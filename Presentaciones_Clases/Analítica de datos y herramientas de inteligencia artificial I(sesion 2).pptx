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9"/>
  </p:notesMasterIdLst>
  <p:sldIdLst>
    <p:sldId id="256" r:id="rId2"/>
    <p:sldId id="357" r:id="rId3"/>
    <p:sldId id="358" r:id="rId4"/>
    <p:sldId id="364" r:id="rId5"/>
    <p:sldId id="426" r:id="rId6"/>
    <p:sldId id="365" r:id="rId7"/>
    <p:sldId id="366" r:id="rId8"/>
    <p:sldId id="367" r:id="rId9"/>
    <p:sldId id="378" r:id="rId10"/>
    <p:sldId id="370" r:id="rId11"/>
    <p:sldId id="371" r:id="rId12"/>
    <p:sldId id="372" r:id="rId13"/>
    <p:sldId id="375" r:id="rId14"/>
    <p:sldId id="374" r:id="rId15"/>
    <p:sldId id="373" r:id="rId16"/>
    <p:sldId id="376" r:id="rId17"/>
    <p:sldId id="377" r:id="rId18"/>
    <p:sldId id="427" r:id="rId19"/>
    <p:sldId id="412" r:id="rId20"/>
    <p:sldId id="435" r:id="rId21"/>
    <p:sldId id="436" r:id="rId22"/>
    <p:sldId id="433" r:id="rId23"/>
    <p:sldId id="429" r:id="rId24"/>
    <p:sldId id="430" r:id="rId25"/>
    <p:sldId id="431" r:id="rId26"/>
    <p:sldId id="437" r:id="rId27"/>
    <p:sldId id="280" r:id="rId28"/>
  </p:sldIdLst>
  <p:sldSz cx="9144000" cy="5143500" type="screen16x9"/>
  <p:notesSz cx="6858000" cy="9144000"/>
  <p:embeddedFontLst>
    <p:embeddedFont>
      <p:font typeface="Advent Pro Light" panose="020B0604020202020204" charset="0"/>
      <p:regular r:id="rId30"/>
      <p:bold r:id="rId31"/>
    </p:embeddedFont>
    <p:embeddedFont>
      <p:font typeface="Anton" pitchFamily="2" charset="0"/>
      <p:regular r:id="rId32"/>
    </p:embeddedFont>
    <p:embeddedFont>
      <p:font typeface="Fira Sans Condensed Light" panose="020B0403050000020004" pitchFamily="34" charset="0"/>
      <p:regular r:id="rId33"/>
      <p:bold r:id="rId34"/>
      <p:italic r:id="rId35"/>
      <p:boldItalic r:id="rId36"/>
    </p:embeddedFont>
    <p:embeddedFont>
      <p:font typeface="Rajdhani"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8D987D1-5C1E-4DDD-5257-78862A2E01E6}"/>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6CC4CDD9-0628-BFE3-8B13-1DDBCDC9FE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EAB5689B-6C6B-0ACB-7A72-3736EAE65C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2492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BAF0CDF4-050C-54FA-F302-B95C16CB33B7}"/>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49626E1F-9749-1BEF-C213-71B62DE89D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9D05167C-8977-D8CF-F3C9-FB2ADFD3B7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0327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0B0B3644-5560-6C3B-127D-FB74521993F3}"/>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FED83615-1EA4-7031-F15D-7F14E3AE2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AAD1B42D-26D4-27EE-BB49-08361BCC22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8449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BAF36046-404A-BC35-AC6E-39598685EB44}"/>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6395D9B-91E7-1320-36A6-01108FA1E5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5A38EEF9-F33B-3D45-FC2C-49AEF95145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0547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C6A10F78-3E4A-C301-5A29-2E27F0A99B8B}"/>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18714DBF-657C-CA79-8E09-C88078AE2E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5942CF92-9F27-CDE4-F60F-2105226138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8818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1C11FDC-362C-F7AF-8789-2C9398758C20}"/>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83A9E02D-616A-5464-3A3F-1E5C67DB66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B8E173C-725F-477E-5F51-ED3D581F17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5824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DE9D36F-A8D6-0733-E54E-8264F47EE7BB}"/>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CA2086AA-AA3A-8BA3-66C4-F880C1FFB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0FEDB0B8-7812-71E5-6BCB-692880BE97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98760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DE9D36F-A8D6-0733-E54E-8264F47EE7BB}"/>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CA2086AA-AA3A-8BA3-66C4-F880C1FFB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0FEDB0B8-7812-71E5-6BCB-692880BE97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2760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3.gif"/></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TI3001C</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Analítica de datos y herramientas de inteligencia artificial I </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13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-Analítica de datos </a:t>
            </a:r>
          </a:p>
          <a:p>
            <a:pPr marL="146050" lvl="0" indent="0">
              <a:buSzPts val="1300"/>
            </a:pPr>
            <a:r>
              <a:rPr lang="es-ES" dirty="0"/>
              <a:t> -Plataformas en la nube</a:t>
            </a:r>
          </a:p>
          <a:p>
            <a:pPr marL="146050" lvl="0" indent="0">
              <a:buSzPts val="1300"/>
            </a:pPr>
            <a:r>
              <a:rPr lang="es-ES" dirty="0"/>
              <a:t> -Plataformas de almacenamiento local</a:t>
            </a:r>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rot="16200000" flipH="1">
            <a:off x="4356537" y="3231930"/>
            <a:ext cx="2564526" cy="10510"/>
          </a:xfrm>
          <a:prstGeom prst="straightConnector1">
            <a:avLst/>
          </a:prstGeom>
          <a:noFill/>
          <a:ln w="19050" cap="flat" cmpd="sng">
            <a:solidFill>
              <a:srgbClr val="F3F3F3"/>
            </a:solidFill>
            <a:prstDash val="solid"/>
            <a:round/>
            <a:headEnd type="oval" w="med" len="med"/>
            <a:tailEnd type="oval" w="med" len="med"/>
          </a:ln>
        </p:spPr>
      </p:cxnSp>
      <p:pic>
        <p:nvPicPr>
          <p:cNvPr id="46082" name="Picture 2" descr="Como empezar a analizar datos con Python usando Google Colab | by Gustavo  Juantorena | Medium"/>
          <p:cNvPicPr>
            <a:picLocks noChangeAspect="1" noChangeArrowheads="1"/>
          </p:cNvPicPr>
          <p:nvPr/>
        </p:nvPicPr>
        <p:blipFill>
          <a:blip r:embed="rId4"/>
          <a:srcRect/>
          <a:stretch>
            <a:fillRect/>
          </a:stretch>
        </p:blipFill>
        <p:spPr bwMode="auto">
          <a:xfrm>
            <a:off x="344761" y="2019463"/>
            <a:ext cx="5083632" cy="2258247"/>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673449" y="1813864"/>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Colaboratory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Colab</a:t>
            </a:r>
            <a:r>
              <a:rPr lang="es-ES" sz="1600" dirty="0">
                <a:solidFill>
                  <a:schemeClr val="accent4"/>
                </a:solidFill>
                <a:latin typeface="Fira Sans Condensed Light" panose="020B0604020202020204" charset="0"/>
                <a:cs typeface="Times New Roman" panose="02020603050405020304" pitchFamily="18" charset="0"/>
              </a:rPr>
              <a:t>, también conocido como "</a:t>
            </a:r>
            <a:r>
              <a:rPr lang="es-ES" sz="1600" dirty="0" err="1">
                <a:solidFill>
                  <a:schemeClr val="accent4"/>
                </a:solidFill>
                <a:latin typeface="Fira Sans Condensed Light" panose="020B0604020202020204" charset="0"/>
                <a:cs typeface="Times New Roman" panose="02020603050405020304" pitchFamily="18" charset="0"/>
              </a:rPr>
              <a:t>Colaboratory</a:t>
            </a:r>
            <a:r>
              <a:rPr lang="es-ES" sz="1600" dirty="0">
                <a:solidFill>
                  <a:schemeClr val="accent4"/>
                </a:solidFill>
                <a:latin typeface="Fira Sans Condensed Light" panose="020B0604020202020204" charset="0"/>
                <a:cs typeface="Times New Roman" panose="02020603050405020304" pitchFamily="18" charset="0"/>
              </a:rPr>
              <a:t>", te permite programar y ejecutar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utilizando la </a:t>
            </a:r>
            <a:r>
              <a:rPr lang="es-ES" sz="1600" dirty="0" err="1">
                <a:solidFill>
                  <a:schemeClr val="accent4"/>
                </a:solidFill>
                <a:latin typeface="Fira Sans Condensed Light" panose="020B0604020202020204" charset="0"/>
                <a:cs typeface="Times New Roman" panose="02020603050405020304" pitchFamily="18" charset="0"/>
              </a:rPr>
              <a:t>notebook</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Jupyter</a:t>
            </a:r>
            <a:r>
              <a:rPr lang="es-ES" sz="1600" dirty="0">
                <a:solidFill>
                  <a:schemeClr val="accent4"/>
                </a:solidFill>
                <a:latin typeface="Fira Sans Condensed Light" panose="020B0604020202020204" charset="0"/>
                <a:cs typeface="Times New Roman" panose="02020603050405020304" pitchFamily="18" charset="0"/>
              </a:rPr>
              <a:t> en tu navegador con las siguientes ventajas:</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No requiere configuración</a:t>
            </a:r>
          </a:p>
          <a:p>
            <a:pPr algn="just"/>
            <a:r>
              <a:rPr lang="es-ES" sz="1600" dirty="0">
                <a:solidFill>
                  <a:schemeClr val="accent4"/>
                </a:solidFill>
                <a:latin typeface="Fira Sans Condensed Light" panose="020B0604020202020204" charset="0"/>
                <a:cs typeface="Times New Roman" panose="02020603050405020304" pitchFamily="18" charset="0"/>
              </a:rPr>
              <a:t>-Da acceso gratuito a </a:t>
            </a:r>
            <a:r>
              <a:rPr lang="es-ES" sz="1600" dirty="0" err="1">
                <a:solidFill>
                  <a:schemeClr val="accent4"/>
                </a:solidFill>
                <a:latin typeface="Fira Sans Condensed Light" panose="020B0604020202020204" charset="0"/>
                <a:cs typeface="Times New Roman" panose="02020603050405020304" pitchFamily="18" charset="0"/>
              </a:rPr>
              <a:t>GPUs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-Permite compartir contenido fácilmente</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https://colab.research.google.com/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34041" y="29332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Abrir Nuevo cuaderno </a:t>
            </a:r>
          </a:p>
          <a:p>
            <a:pPr algn="just"/>
            <a:r>
              <a:rPr lang="es-ES" sz="1600" dirty="0">
                <a:solidFill>
                  <a:schemeClr val="accent4"/>
                </a:solidFill>
                <a:latin typeface="Fira Sans Condensed Light" panose="020B0604020202020204" charset="0"/>
                <a:cs typeface="Times New Roman" panose="02020603050405020304" pitchFamily="18" charset="0"/>
              </a:rPr>
              <a:t>Archivo/Nuevo cuaderno/Nombre: Hola mundo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Instalar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librerias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requeridas</a:t>
            </a:r>
          </a:p>
          <a:p>
            <a:pPr algn="just"/>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pandas</a:t>
            </a:r>
          </a:p>
          <a:p>
            <a:pPr algn="just"/>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numpy</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matplotlib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NumPy: Funciones basicas de algebra - ▷ Cursos de Programación de 0 a  Experto © Garantizados"/>
          <p:cNvPicPr>
            <a:picLocks noChangeAspect="1" noChangeArrowheads="1"/>
          </p:cNvPicPr>
          <p:nvPr/>
        </p:nvPicPr>
        <p:blipFill>
          <a:blip r:embed="rId4"/>
          <a:srcRect/>
          <a:stretch>
            <a:fillRect/>
          </a:stretch>
        </p:blipFill>
        <p:spPr bwMode="auto">
          <a:xfrm>
            <a:off x="6952016" y="2020913"/>
            <a:ext cx="1833364" cy="1131067"/>
          </a:xfrm>
          <a:prstGeom prst="rect">
            <a:avLst/>
          </a:prstGeom>
          <a:noFill/>
        </p:spPr>
      </p:pic>
      <p:pic>
        <p:nvPicPr>
          <p:cNvPr id="2052" name="Picture 4" descr="Pandas - EcuRed"/>
          <p:cNvPicPr>
            <a:picLocks noChangeAspect="1" noChangeArrowheads="1"/>
          </p:cNvPicPr>
          <p:nvPr/>
        </p:nvPicPr>
        <p:blipFill>
          <a:blip r:embed="rId5"/>
          <a:srcRect/>
          <a:stretch>
            <a:fillRect/>
          </a:stretch>
        </p:blipFill>
        <p:spPr bwMode="auto">
          <a:xfrm>
            <a:off x="3816180" y="2005602"/>
            <a:ext cx="2745279" cy="1147196"/>
          </a:xfrm>
          <a:prstGeom prst="rect">
            <a:avLst/>
          </a:prstGeom>
          <a:noFill/>
        </p:spPr>
      </p:pic>
      <p:pic>
        <p:nvPicPr>
          <p:cNvPr id="2054" name="Picture 6" descr="Caso práctico con Matplotlib y Geopandas - Adictos al trabajo Tutoriales"/>
          <p:cNvPicPr>
            <a:picLocks noChangeAspect="1" noChangeArrowheads="1"/>
          </p:cNvPicPr>
          <p:nvPr/>
        </p:nvPicPr>
        <p:blipFill>
          <a:blip r:embed="rId6"/>
          <a:srcRect/>
          <a:stretch>
            <a:fillRect/>
          </a:stretch>
        </p:blipFill>
        <p:spPr bwMode="auto">
          <a:xfrm>
            <a:off x="3817883" y="3471043"/>
            <a:ext cx="2750706" cy="1051035"/>
          </a:xfrm>
          <a:prstGeom prst="rect">
            <a:avLst/>
          </a:prstGeom>
          <a:noFill/>
        </p:spPr>
      </p:pic>
      <p:pic>
        <p:nvPicPr>
          <p:cNvPr id="2056" name="Picture 8" descr="Create python jupyter notebooks by Naazneen_jatu | Fiverr"/>
          <p:cNvPicPr>
            <a:picLocks noChangeAspect="1" noChangeArrowheads="1"/>
          </p:cNvPicPr>
          <p:nvPr/>
        </p:nvPicPr>
        <p:blipFill>
          <a:blip r:embed="rId7"/>
          <a:srcRect/>
          <a:stretch>
            <a:fillRect/>
          </a:stretch>
        </p:blipFill>
        <p:spPr bwMode="auto">
          <a:xfrm>
            <a:off x="6838485" y="3444877"/>
            <a:ext cx="2098687" cy="106181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https://github.com/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1" name="Google Shape;1603;p42"/>
          <p:cNvSpPr txBox="1"/>
          <p:nvPr/>
        </p:nvSpPr>
        <p:spPr>
          <a:xfrm>
            <a:off x="423530" y="267044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Ingresar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Sign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in</a:t>
            </a:r>
          </a:p>
        </p:txBody>
      </p:sp>
      <p:sp>
        <p:nvSpPr>
          <p:cNvPr id="12" name="Google Shape;1603;p42"/>
          <p:cNvSpPr txBox="1"/>
          <p:nvPr/>
        </p:nvSpPr>
        <p:spPr>
          <a:xfrm>
            <a:off x="418277" y="30856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los datos solicitados</a:t>
            </a:r>
          </a:p>
          <a:p>
            <a:pPr algn="just"/>
            <a:r>
              <a:rPr lang="en-US" sz="1600" dirty="0" err="1">
                <a:solidFill>
                  <a:srgbClr val="F3F3F3"/>
                </a:solidFill>
                <a:latin typeface="Fira Sans Condensed Light"/>
                <a:ea typeface="Fira Sans Condensed Light"/>
                <a:cs typeface="Fira Sans Condensed Light"/>
                <a:sym typeface="Fira Sans Condensed Light"/>
              </a:rPr>
              <a:t>Agregar</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correo</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crear</a:t>
            </a:r>
            <a:r>
              <a:rPr lang="en-US" sz="1600" dirty="0">
                <a:solidFill>
                  <a:srgbClr val="F3F3F3"/>
                </a:solidFill>
                <a:latin typeface="Fira Sans Condensed Light"/>
                <a:ea typeface="Fira Sans Condensed Light"/>
                <a:cs typeface="Fira Sans Condensed Light"/>
                <a:sym typeface="Fira Sans Condensed Light"/>
              </a:rPr>
              <a:t> password y username</a:t>
            </a:r>
            <a:endParaRPr lang="es-ES" sz="1600" dirty="0">
              <a:solidFill>
                <a:srgbClr val="F3F3F3"/>
              </a:solidFill>
              <a:latin typeface="Fira Sans Condensed Light"/>
              <a:ea typeface="Fira Sans Condensed Light"/>
              <a:cs typeface="Fira Sans Condensed Light"/>
              <a:sym typeface="Fira Sans Condensed Light"/>
            </a:endParaRPr>
          </a:p>
        </p:txBody>
      </p:sp>
      <p:sp>
        <p:nvSpPr>
          <p:cNvPr id="13" name="Google Shape;1603;p42"/>
          <p:cNvSpPr txBox="1"/>
          <p:nvPr/>
        </p:nvSpPr>
        <p:spPr>
          <a:xfrm>
            <a:off x="434041" y="375301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Verificar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antibot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4" name="Google Shape;1603;p42"/>
          <p:cNvSpPr txBox="1"/>
          <p:nvPr/>
        </p:nvSpPr>
        <p:spPr>
          <a:xfrm>
            <a:off x="439296" y="413664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Confirmar código enviado a correo</a:t>
            </a:r>
          </a:p>
        </p:txBody>
      </p:sp>
      <p:sp>
        <p:nvSpPr>
          <p:cNvPr id="15" name="Google Shape;1603;p42"/>
          <p:cNvSpPr txBox="1"/>
          <p:nvPr/>
        </p:nvSpPr>
        <p:spPr>
          <a:xfrm>
            <a:off x="4611905" y="2050339"/>
            <a:ext cx="4111682"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Seleccionar  herramientas</a:t>
            </a:r>
          </a:p>
        </p:txBody>
      </p:sp>
      <p:sp>
        <p:nvSpPr>
          <p:cNvPr id="16" name="Google Shape;1603;p42"/>
          <p:cNvSpPr txBox="1"/>
          <p:nvPr/>
        </p:nvSpPr>
        <p:spPr>
          <a:xfrm>
            <a:off x="4627672" y="258111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Crear nuevo repositorio</a:t>
            </a:r>
          </a:p>
          <a:p>
            <a:pPr algn="just"/>
            <a:r>
              <a:rPr lang="es-ES" sz="1600" dirty="0">
                <a:solidFill>
                  <a:schemeClr val="accent4"/>
                </a:solidFill>
                <a:latin typeface="Fira Sans Condensed Light" panose="020B0604020202020204" charset="0"/>
                <a:cs typeface="Times New Roman" panose="02020603050405020304" pitchFamily="18" charset="0"/>
              </a:rPr>
              <a:t>Nombre: Analítica de datos </a:t>
            </a:r>
            <a:endParaRPr lang="es-ES" sz="1600" dirty="0">
              <a:solidFill>
                <a:srgbClr val="F3F3F3"/>
              </a:solidFill>
              <a:latin typeface="Fira Sans Condensed Light"/>
              <a:ea typeface="Fira Sans Condensed Light"/>
              <a:cs typeface="Fira Sans Condensed Light"/>
              <a:sym typeface="Fira Sans Condensed Light"/>
            </a:endParaRP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el interprete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es un lenguaje de alto nivel de programación interpretado cuya filosofía hace hincapié en la legibilidad de su código, se utiliza para desarrollar aplicaciones de todo tipo, ejemplos: </a:t>
            </a:r>
            <a:r>
              <a:rPr lang="es-ES" sz="1600" dirty="0" err="1">
                <a:solidFill>
                  <a:schemeClr val="accent4"/>
                </a:solidFill>
                <a:latin typeface="Fira Sans Condensed Light" panose="020B0604020202020204" charset="0"/>
                <a:cs typeface="Times New Roman" panose="02020603050405020304" pitchFamily="18" charset="0"/>
              </a:rPr>
              <a:t>Instagram</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Netflix</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Spotify</a:t>
            </a:r>
            <a:r>
              <a:rPr lang="es-ES" sz="1600" dirty="0">
                <a:solidFill>
                  <a:schemeClr val="accent4"/>
                </a:solidFill>
                <a:latin typeface="Fira Sans Condensed Light" panose="020B0604020202020204" charset="0"/>
                <a:cs typeface="Times New Roman" panose="02020603050405020304" pitchFamily="18" charset="0"/>
              </a:rPr>
              <a:t>, Panda 3D, entre otros.​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8132" name="Picture 4" descr="Los pickles de Python. Programación en Castellano."/>
          <p:cNvPicPr>
            <a:picLocks noChangeAspect="1" noChangeArrowheads="1"/>
          </p:cNvPicPr>
          <p:nvPr/>
        </p:nvPicPr>
        <p:blipFill>
          <a:blip r:embed="rId4"/>
          <a:srcRect/>
          <a:stretch>
            <a:fillRect/>
          </a:stretch>
        </p:blipFill>
        <p:spPr bwMode="auto">
          <a:xfrm>
            <a:off x="249723" y="2585545"/>
            <a:ext cx="4685635" cy="2032438"/>
          </a:xfrm>
          <a:prstGeom prst="rect">
            <a:avLst/>
          </a:prstGeom>
          <a:noFill/>
        </p:spPr>
      </p:pic>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la versión más reciente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https://www.python.org/</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80707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Crear una carpeta en el escritorio</a:t>
            </a:r>
          </a:p>
          <a:p>
            <a:pPr algn="just"/>
            <a:r>
              <a:rPr lang="en-US" sz="1600" dirty="0" err="1">
                <a:solidFill>
                  <a:srgbClr val="F3F3F3"/>
                </a:solidFill>
                <a:latin typeface="Fira Sans Condensed Light"/>
                <a:ea typeface="Fira Sans Condensed Light"/>
                <a:cs typeface="Fira Sans Condensed Light"/>
                <a:sym typeface="Fira Sans Condensed Light"/>
              </a:rPr>
              <a:t>Nombre</a:t>
            </a:r>
            <a:r>
              <a:rPr lang="en-US" sz="1600" dirty="0">
                <a:solidFill>
                  <a:srgbClr val="F3F3F3"/>
                </a:solidFill>
                <a:latin typeface="Fira Sans Condensed Light"/>
                <a:ea typeface="Fira Sans Condensed Light"/>
                <a:cs typeface="Fira Sans Condensed Light"/>
                <a:sym typeface="Fira Sans Condensed Light"/>
              </a:rPr>
              <a:t> de la </a:t>
            </a:r>
            <a:r>
              <a:rPr lang="en-US" sz="1600" dirty="0" err="1">
                <a:solidFill>
                  <a:srgbClr val="F3F3F3"/>
                </a:solidFill>
                <a:latin typeface="Fira Sans Condensed Light"/>
                <a:ea typeface="Fira Sans Condensed Light"/>
                <a:cs typeface="Fira Sans Condensed Light"/>
                <a:sym typeface="Fira Sans Condensed Light"/>
              </a:rPr>
              <a:t>carpeta</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Proyecto</a:t>
            </a:r>
            <a:endParaRPr lang="es-ES" sz="1600" dirty="0">
              <a:solidFill>
                <a:srgbClr val="F3F3F3"/>
              </a:solidFill>
              <a:latin typeface="Fira Sans Condensed Light"/>
              <a:ea typeface="Fira Sans Condensed Light"/>
              <a:cs typeface="Fira Sans Condensed Light"/>
              <a:sym typeface="Fira Sans Condensed Light"/>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pic>
        <p:nvPicPr>
          <p:cNvPr id="48130" name="Picture 2" descr="Editor de código Visual Studio Code para el desarrollo web - Iván Andréi"/>
          <p:cNvPicPr>
            <a:picLocks noChangeAspect="1" noChangeArrowheads="1"/>
          </p:cNvPicPr>
          <p:nvPr/>
        </p:nvPicPr>
        <p:blipFill>
          <a:blip r:embed="rId4"/>
          <a:srcRect/>
          <a:stretch>
            <a:fillRect/>
          </a:stretch>
        </p:blipFill>
        <p:spPr bwMode="auto">
          <a:xfrm>
            <a:off x="583792" y="2449937"/>
            <a:ext cx="4072290" cy="2290229"/>
          </a:xfrm>
          <a:prstGeom prst="rect">
            <a:avLst/>
          </a:prstGeom>
          <a:noFill/>
        </p:spPr>
      </p:pic>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Es un editor de código fuente desarrollado por Microsoft para Windows, Linux, </a:t>
            </a:r>
            <a:r>
              <a:rPr lang="es-ES" sz="1600" dirty="0" err="1">
                <a:solidFill>
                  <a:schemeClr val="accent4"/>
                </a:solidFill>
                <a:latin typeface="Fira Sans Condensed Light" panose="020B0604020202020204" charset="0"/>
                <a:cs typeface="Times New Roman" panose="02020603050405020304" pitchFamily="18" charset="0"/>
              </a:rPr>
              <a:t>macOS</a:t>
            </a:r>
            <a:r>
              <a:rPr lang="es-ES" sz="1600" dirty="0">
                <a:solidFill>
                  <a:schemeClr val="accent4"/>
                </a:solidFill>
                <a:latin typeface="Fira Sans Condensed Light" panose="020B0604020202020204" charset="0"/>
                <a:cs typeface="Times New Roman" panose="02020603050405020304" pitchFamily="18" charset="0"/>
              </a:rPr>
              <a:t> y Web. Incluye soporte para la depuración, control integrado de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resaltado de sintaxis, finalización inteligente de código, fragmentos y refactorización de código.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https://code.visualstudio.com/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78605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Elegir la versión apropiada para mi sistema operativo</a:t>
            </a:r>
          </a:p>
        </p:txBody>
      </p:sp>
      <p:sp>
        <p:nvSpPr>
          <p:cNvPr id="10" name="Google Shape;1603;p42"/>
          <p:cNvSpPr txBox="1"/>
          <p:nvPr/>
        </p:nvSpPr>
        <p:spPr>
          <a:xfrm>
            <a:off x="428787" y="3274791"/>
            <a:ext cx="5467516" cy="66659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atajo al escritorio</a:t>
            </a:r>
          </a:p>
        </p:txBody>
      </p:sp>
      <p:sp>
        <p:nvSpPr>
          <p:cNvPr id="11" name="Google Shape;1603;p42"/>
          <p:cNvSpPr txBox="1"/>
          <p:nvPr/>
        </p:nvSpPr>
        <p:spPr>
          <a:xfrm>
            <a:off x="444551" y="3763523"/>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Correr el programa </a:t>
            </a:r>
          </a:p>
        </p:txBody>
      </p:sp>
      <p:sp>
        <p:nvSpPr>
          <p:cNvPr id="12"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5298" name="Picture 2"/>
          <p:cNvPicPr>
            <a:picLocks noChangeAspect="1" noChangeArrowheads="1"/>
          </p:cNvPicPr>
          <p:nvPr/>
        </p:nvPicPr>
        <p:blipFill>
          <a:blip r:embed="rId4"/>
          <a:srcRect t="12069" r="76897" b="31610"/>
          <a:stretch>
            <a:fillRect/>
          </a:stretch>
        </p:blipFill>
        <p:spPr bwMode="auto">
          <a:xfrm>
            <a:off x="5244663" y="977460"/>
            <a:ext cx="2982954" cy="4088524"/>
          </a:xfrm>
          <a:prstGeom prst="rect">
            <a:avLst/>
          </a:prstGeom>
          <a:noFill/>
          <a:ln w="9525">
            <a:noFill/>
            <a:miter lim="800000"/>
            <a:headEnd/>
            <a:tailEnd/>
          </a:ln>
          <a:effectLst/>
        </p:spPr>
      </p:pic>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6322" name="Picture 2"/>
          <p:cNvPicPr>
            <a:picLocks noChangeAspect="1" noChangeArrowheads="1"/>
          </p:cNvPicPr>
          <p:nvPr/>
        </p:nvPicPr>
        <p:blipFill>
          <a:blip r:embed="rId4"/>
          <a:srcRect t="11925" r="76735" b="31208"/>
          <a:stretch>
            <a:fillRect/>
          </a:stretch>
        </p:blipFill>
        <p:spPr bwMode="auto">
          <a:xfrm>
            <a:off x="5244663" y="1054977"/>
            <a:ext cx="2952061" cy="4056993"/>
          </a:xfrm>
          <a:prstGeom prst="rect">
            <a:avLst/>
          </a:prstGeom>
          <a:noFill/>
          <a:ln w="9525">
            <a:noFill/>
            <a:miter lim="800000"/>
            <a:headEnd/>
            <a:tailEnd/>
          </a:ln>
          <a:effectLst/>
        </p:spPr>
      </p:pic>
      <p:sp>
        <p:nvSpPr>
          <p:cNvPr id="9" name="Google Shape;1603;p42"/>
          <p:cNvSpPr txBox="1"/>
          <p:nvPr/>
        </p:nvSpPr>
        <p:spPr>
          <a:xfrm>
            <a:off x="476084" y="3238003"/>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Clonar repositorio en carpeta proyecto</a:t>
            </a:r>
          </a:p>
          <a:p>
            <a:pPr algn="just"/>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clone https://github.com/freddy-7/proyecto1.git</a:t>
            </a:r>
            <a:endParaRPr lang="es-ES" dirty="0">
              <a:solidFill>
                <a:srgbClr val="F3F3F3"/>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680C55B-736C-A138-E389-FE6324051A4B}"/>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E8F74953-0CAD-5EB4-5485-9DB9828E7A73}"/>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893F1F36-7FE3-9F5F-4F2A-F38DB9623BE7}"/>
              </a:ext>
            </a:extLst>
          </p:cNvPr>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-Arreglos y Matrices</a:t>
            </a:r>
          </a:p>
          <a:p>
            <a:pPr marL="146050" lvl="0" indent="0">
              <a:buSzPts val="1300"/>
            </a:pPr>
            <a:r>
              <a:rPr lang="es-ES" dirty="0"/>
              <a:t> -Entendimiento de los datos</a:t>
            </a:r>
          </a:p>
        </p:txBody>
      </p:sp>
      <p:sp>
        <p:nvSpPr>
          <p:cNvPr id="176" name="Google Shape;176;p30">
            <a:extLst>
              <a:ext uri="{FF2B5EF4-FFF2-40B4-BE49-F238E27FC236}">
                <a16:creationId xmlns:a16="http://schemas.microsoft.com/office/drawing/2014/main" id="{7E6143CB-5F05-679C-4606-78DAF3ECA9D6}"/>
              </a:ext>
            </a:extLst>
          </p:cNvPr>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a:extLst>
              <a:ext uri="{FF2B5EF4-FFF2-40B4-BE49-F238E27FC236}">
                <a16:creationId xmlns:a16="http://schemas.microsoft.com/office/drawing/2014/main" id="{0C540975-3966-9C3A-D983-7EB912D38ACB}"/>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41D7DC80-9B1B-988A-FE53-199FC036B68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6210329B-14B3-708C-D718-A58B73BA58D9}"/>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203235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ARRAYS Uni-</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dimensionales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2283" y="1424343"/>
            <a:ext cx="344197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un arreglo, array o vector?</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En programación,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un arreglo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 array en inglés) es una estructura de datos que permite almacenar una colección de elementos del mismo tipo, bajo un mismo nombre, y a los que se puede acceder mediante un índice numérico. Básicamente, es una forma de organizar y acceder a múltiples datos de manera eficiente dentro de una variable.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Arreglos unidimensionales – Prácticas con Arduino y DASA">
            <a:extLst>
              <a:ext uri="{FF2B5EF4-FFF2-40B4-BE49-F238E27FC236}">
                <a16:creationId xmlns:a16="http://schemas.microsoft.com/office/drawing/2014/main" id="{16FB9020-48FE-3EBB-90F4-8332ECCD3B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7811" y="1561415"/>
            <a:ext cx="5137363" cy="3071546"/>
          </a:xfrm>
          <a:prstGeom prst="rect">
            <a:avLst/>
          </a:prstGeom>
          <a:solidFill>
            <a:schemeClr val="accent6">
              <a:lumMod val="60000"/>
              <a:lumOff val="40000"/>
            </a:schemeClr>
          </a:solid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646390F-FC8C-3F41-6E62-433E5C447BD4}"/>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E2E2AB74-3BAE-40B7-FAF5-0D1DED6716E7}"/>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6DB9A1E1-9558-7060-68A3-9F8923E72894}"/>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ARRAYS </a:t>
            </a:r>
            <a:r>
              <a:rPr lang="en-US" sz="3000" b="1" dirty="0">
                <a:solidFill>
                  <a:srgbClr val="F3F3F3"/>
                </a:solidFill>
                <a:latin typeface="Rajdhani"/>
                <a:ea typeface="Rajdhani"/>
                <a:cs typeface="Rajdhani"/>
                <a:sym typeface="Rajdhani"/>
              </a:rPr>
              <a:t>Bi-</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dimensionales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49E0FD8-2D45-5192-DD66-45AA7A7BBD26}"/>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142D8268-2A1D-7DF4-922B-B9C2DFB2A306}"/>
              </a:ext>
            </a:extLst>
          </p:cNvPr>
          <p:cNvSpPr txBox="1"/>
          <p:nvPr/>
        </p:nvSpPr>
        <p:spPr>
          <a:xfrm>
            <a:off x="292283" y="1424343"/>
            <a:ext cx="3441974"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un arreglo bidimensional o matriz?</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Un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array bidimensional</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también conocido como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matriz</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es una estructura de datos que organiza los elementos en filas y columnas, formando una tabla o cuadrícula. Para acceder a un elemento específico dentro de un array bidimensional, se necesitan dos índices: uno para la fila y otro para la columna. </a:t>
            </a:r>
          </a:p>
        </p:txBody>
      </p:sp>
      <p:sp>
        <p:nvSpPr>
          <p:cNvPr id="10" name="Google Shape;136;p27">
            <a:extLst>
              <a:ext uri="{FF2B5EF4-FFF2-40B4-BE49-F238E27FC236}">
                <a16:creationId xmlns:a16="http://schemas.microsoft.com/office/drawing/2014/main" id="{AAC393BC-1BD0-3BF7-7360-51DEC9534FF5}"/>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descr="ᐅ Pseint: Uso de las Matrices o Arreglos Bidimensionales">
            <a:extLst>
              <a:ext uri="{FF2B5EF4-FFF2-40B4-BE49-F238E27FC236}">
                <a16:creationId xmlns:a16="http://schemas.microsoft.com/office/drawing/2014/main" id="{C4361829-FDF3-DCB4-D25E-481BB08ED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9723" y="1600722"/>
            <a:ext cx="4851994" cy="3234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431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7183ECF6-311C-9483-DB30-A2F1490AA2E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A045EFC-F728-CF90-80F3-7BA062DD573C}"/>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BA0377FD-4901-595D-68EB-7FA8A7CB34EB}"/>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ARRAYS Multi</a:t>
            </a:r>
            <a:r>
              <a:rPr lang="en-US" sz="3000" b="1" dirty="0">
                <a:solidFill>
                  <a:srgbClr val="F3F3F3"/>
                </a:solidFill>
                <a:latin typeface="Rajdhani"/>
                <a:ea typeface="Rajdhani"/>
                <a:cs typeface="Rajdhani"/>
                <a:sym typeface="Rajdhani"/>
              </a:rPr>
              <a:t>-</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dimensionales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0EA68FE-B5E8-C46E-FBFE-EF28A89E23DB}"/>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2014E3EF-0EB7-5CDF-657A-AA83E0C66B55}"/>
              </a:ext>
            </a:extLst>
          </p:cNvPr>
          <p:cNvSpPr txBox="1"/>
          <p:nvPr/>
        </p:nvSpPr>
        <p:spPr>
          <a:xfrm>
            <a:off x="292283" y="1424343"/>
            <a:ext cx="3352799"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un arreglo multidimensional o  páginas?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Un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array multidimensional</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es una estructura de datos que contiene otros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arrays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páginas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como elementos, permitiendo la organización de datos en más de una dimensión, como filas y columnas (bidimensional) o incluso más niveles de complejidad (tridimensional, etc.). En esencia, es una matriz de matrices o una colección de arreglos anidados. </a:t>
            </a:r>
          </a:p>
        </p:txBody>
      </p:sp>
      <p:sp>
        <p:nvSpPr>
          <p:cNvPr id="10" name="Google Shape;136;p27">
            <a:extLst>
              <a:ext uri="{FF2B5EF4-FFF2-40B4-BE49-F238E27FC236}">
                <a16:creationId xmlns:a16="http://schemas.microsoft.com/office/drawing/2014/main" id="{18C2EEB3-620F-B22F-9F57-6A69CBEDF927}"/>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4" name="Picture 2" descr="Multidimensional Arrays - MATLAB &amp;amp; Simulink">
            <a:extLst>
              <a:ext uri="{FF2B5EF4-FFF2-40B4-BE49-F238E27FC236}">
                <a16:creationId xmlns:a16="http://schemas.microsoft.com/office/drawing/2014/main" id="{46964F50-58A1-BC81-EF20-B58630C057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788" y="2049560"/>
            <a:ext cx="5036929" cy="226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157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A5202E27-2E54-C558-54B3-A951604F7184}"/>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3B5D5A76-C02A-8FF6-DBAE-F857AE1B924C}"/>
              </a:ext>
            </a:extLst>
          </p:cNvPr>
          <p:cNvSpPr txBox="1">
            <a:spLocks/>
          </p:cNvSpPr>
          <p:nvPr/>
        </p:nvSpPr>
        <p:spPr>
          <a:xfrm>
            <a:off x="353155" y="304668"/>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Entendimiento del negocio y</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rgbClr val="F3F3F3"/>
                </a:solidFill>
                <a:latin typeface="Rajdhani"/>
                <a:ea typeface="Rajdhani"/>
                <a:cs typeface="Rajdhani"/>
                <a:sym typeface="Rajdhani"/>
              </a:rPr>
              <a:t>Entendimiento de</a:t>
            </a: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 los datos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Airbnb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6894E290-CB16-D44C-992F-F431E0EAD354}"/>
              </a:ext>
            </a:extLst>
          </p:cNvPr>
          <p:cNvCxnSpPr>
            <a:cxnSpLocks/>
          </p:cNvCxnSpPr>
          <p:nvPr/>
        </p:nvCxnSpPr>
        <p:spPr>
          <a:xfrm>
            <a:off x="373702" y="457200"/>
            <a:ext cx="0" cy="1113692"/>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a:extLst>
              <a:ext uri="{FF2B5EF4-FFF2-40B4-BE49-F238E27FC236}">
                <a16:creationId xmlns:a16="http://schemas.microsoft.com/office/drawing/2014/main" id="{BE7B670D-E120-A1D6-6BEA-542B36916765}"/>
              </a:ext>
            </a:extLst>
          </p:cNvPr>
          <p:cNvSpPr txBox="1"/>
          <p:nvPr/>
        </p:nvSpPr>
        <p:spPr>
          <a:xfrm>
            <a:off x="127516" y="1597969"/>
            <a:ext cx="2712067" cy="77604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Airbnb?</a:t>
            </a:r>
          </a:p>
          <a:p>
            <a:pPr algn="just"/>
            <a:r>
              <a:rPr lang="es-ES" sz="1600" dirty="0">
                <a:solidFill>
                  <a:schemeClr val="accent4"/>
                </a:solidFill>
                <a:latin typeface="Fira Sans Condensed Light" panose="020B0604020202020204" charset="0"/>
                <a:cs typeface="Times New Roman" panose="02020603050405020304" pitchFamily="18" charset="0"/>
              </a:rPr>
              <a:t>Airbnb comenzó en 2008, cuando dos diseñadores que tenían espacio libre en casa recibieron a tres viajeros que buscaban un lugar donde hospedarse. En la actualidad, millones de anfitriones y huéspedes han creado cuentas gratuitas en Airbnb para disfrutar su visión compartida del mundo.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6" name="Picture 2" descr="Ventajas y desventajas de Airbnb - Entorno Turístico">
            <a:extLst>
              <a:ext uri="{FF2B5EF4-FFF2-40B4-BE49-F238E27FC236}">
                <a16:creationId xmlns:a16="http://schemas.microsoft.com/office/drawing/2014/main" id="{4CC6346A-DD6E-9913-E540-05C8EFE55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374" y="1650023"/>
            <a:ext cx="6210626" cy="34934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e Learning Gate | Tec de Monterrey">
            <a:extLst>
              <a:ext uri="{FF2B5EF4-FFF2-40B4-BE49-F238E27FC236}">
                <a16:creationId xmlns:a16="http://schemas.microsoft.com/office/drawing/2014/main" id="{FA9E8A50-99FC-67C4-3282-E00722ADA82A}"/>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3294957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C6E2AE3D-CF01-5942-63EA-802C5F548390}"/>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40222CBB-78F9-A426-4B2A-89D607F63FF0}"/>
              </a:ext>
            </a:extLst>
          </p:cNvPr>
          <p:cNvSpPr txBox="1">
            <a:spLocks/>
          </p:cNvSpPr>
          <p:nvPr/>
        </p:nvSpPr>
        <p:spPr>
          <a:xfrm>
            <a:off x="373702" y="396090"/>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Entendimiento del negocio y</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rgbClr val="F3F3F3"/>
                </a:solidFill>
                <a:latin typeface="Rajdhani"/>
                <a:ea typeface="Rajdhani"/>
                <a:cs typeface="Rajdhani"/>
                <a:sym typeface="Rajdhani"/>
              </a:rPr>
              <a:t>Entendimiento de</a:t>
            </a: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 los datos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Airbnb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82E383FB-61AA-34BF-5021-15EFEB72E743}"/>
              </a:ext>
            </a:extLst>
          </p:cNvPr>
          <p:cNvCxnSpPr>
            <a:cxnSpLocks/>
          </p:cNvCxnSpPr>
          <p:nvPr/>
        </p:nvCxnSpPr>
        <p:spPr>
          <a:xfrm>
            <a:off x="373703" y="591018"/>
            <a:ext cx="0" cy="1093885"/>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a:extLst>
              <a:ext uri="{FF2B5EF4-FFF2-40B4-BE49-F238E27FC236}">
                <a16:creationId xmlns:a16="http://schemas.microsoft.com/office/drawing/2014/main" id="{39A05BE7-B27C-571F-B1B6-591093AF933F}"/>
              </a:ext>
            </a:extLst>
          </p:cNvPr>
          <p:cNvSpPr txBox="1"/>
          <p:nvPr/>
        </p:nvSpPr>
        <p:spPr>
          <a:xfrm>
            <a:off x="150222" y="1747657"/>
            <a:ext cx="4750017" cy="77604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Airbnb?</a:t>
            </a:r>
          </a:p>
          <a:p>
            <a:pPr algn="just"/>
            <a:r>
              <a:rPr lang="es-ES" sz="1600" b="1" dirty="0">
                <a:solidFill>
                  <a:schemeClr val="accent4"/>
                </a:solidFill>
                <a:latin typeface="Fira Sans Condensed Light" panose="020B0604020202020204" charset="0"/>
                <a:cs typeface="Times New Roman" panose="02020603050405020304" pitchFamily="18" charset="0"/>
              </a:rPr>
              <a:t>Airbnb</a:t>
            </a:r>
            <a:r>
              <a:rPr lang="es-ES" sz="1600" dirty="0">
                <a:solidFill>
                  <a:schemeClr val="accent4"/>
                </a:solidFill>
                <a:latin typeface="Fira Sans Condensed Light" panose="020B0604020202020204" charset="0"/>
                <a:cs typeface="Times New Roman" panose="02020603050405020304" pitchFamily="18" charset="0"/>
              </a:rPr>
              <a:t> es una compañía que ofrece una plataforma digital dedicada a la oferta de alojamientos a particulares y turísticos (</a:t>
            </a:r>
            <a:r>
              <a:rPr lang="es-ES" sz="1600" b="1" dirty="0">
                <a:solidFill>
                  <a:schemeClr val="accent4"/>
                </a:solidFill>
                <a:latin typeface="Fira Sans Condensed Light" panose="020B0604020202020204" charset="0"/>
                <a:cs typeface="Times New Roman" panose="02020603050405020304" pitchFamily="18" charset="0"/>
              </a:rPr>
              <a:t>alquiler vacacional) </a:t>
            </a:r>
            <a:r>
              <a:rPr lang="es-ES" sz="1600" dirty="0">
                <a:solidFill>
                  <a:schemeClr val="accent4"/>
                </a:solidFill>
                <a:latin typeface="Fira Sans Condensed Light" panose="020B0604020202020204" charset="0"/>
                <a:cs typeface="Times New Roman" panose="02020603050405020304" pitchFamily="18" charset="0"/>
              </a:rPr>
              <a:t>mediante la cual los anfitriones pueden publicitar y contratar el arriendo de sus propiedades con sus huéspedes; anfitriones y huéspedes pueden valorarse mutuamente, como referencia para futuros usuarios. El nombre es un acrónimo de </a:t>
            </a:r>
            <a:r>
              <a:rPr lang="es-ES" sz="1600" dirty="0" err="1">
                <a:solidFill>
                  <a:schemeClr val="accent4"/>
                </a:solidFill>
                <a:latin typeface="Fira Sans Condensed Light" panose="020B0604020202020204" charset="0"/>
                <a:cs typeface="Times New Roman" panose="02020603050405020304" pitchFamily="18" charset="0"/>
              </a:rPr>
              <a:t>airbed</a:t>
            </a:r>
            <a:r>
              <a:rPr lang="es-ES" sz="1600" dirty="0">
                <a:solidFill>
                  <a:schemeClr val="accent4"/>
                </a:solidFill>
                <a:latin typeface="Fira Sans Condensed Light" panose="020B0604020202020204" charset="0"/>
                <a:cs typeface="Times New Roman" panose="02020603050405020304" pitchFamily="18" charset="0"/>
              </a:rPr>
              <a:t> and </a:t>
            </a:r>
            <a:r>
              <a:rPr lang="es-ES" sz="1600" dirty="0" err="1">
                <a:solidFill>
                  <a:schemeClr val="accent4"/>
                </a:solidFill>
                <a:latin typeface="Fira Sans Condensed Light" panose="020B0604020202020204" charset="0"/>
                <a:cs typeface="Times New Roman" panose="02020603050405020304" pitchFamily="18" charset="0"/>
              </a:rPr>
              <a:t>breakfast</a:t>
            </a:r>
            <a:r>
              <a:rPr lang="es-ES" sz="1600" dirty="0">
                <a:solidFill>
                  <a:schemeClr val="accent4"/>
                </a:solidFill>
                <a:latin typeface="Fira Sans Condensed Light" panose="020B0604020202020204" charset="0"/>
                <a:cs typeface="Times New Roman" panose="02020603050405020304" pitchFamily="18" charset="0"/>
              </a:rPr>
              <a:t>. Airbnb tiene una oferta de unas </a:t>
            </a:r>
            <a:r>
              <a:rPr lang="es-ES" sz="1600" b="1" dirty="0">
                <a:solidFill>
                  <a:schemeClr val="accent4"/>
                </a:solidFill>
                <a:latin typeface="Fira Sans Condensed Light" panose="020B0604020202020204" charset="0"/>
                <a:cs typeface="Times New Roman" panose="02020603050405020304" pitchFamily="18" charset="0"/>
              </a:rPr>
              <a:t>2 000 000 propiedades </a:t>
            </a:r>
            <a:r>
              <a:rPr lang="es-ES" sz="1600" dirty="0">
                <a:solidFill>
                  <a:schemeClr val="accent4"/>
                </a:solidFill>
                <a:latin typeface="Fira Sans Condensed Light" panose="020B0604020202020204" charset="0"/>
                <a:cs typeface="Times New Roman" panose="02020603050405020304" pitchFamily="18" charset="0"/>
              </a:rPr>
              <a:t>en </a:t>
            </a:r>
            <a:r>
              <a:rPr lang="es-ES" sz="1600" b="1" dirty="0">
                <a:solidFill>
                  <a:schemeClr val="accent4"/>
                </a:solidFill>
                <a:latin typeface="Fira Sans Condensed Light" panose="020B0604020202020204" charset="0"/>
                <a:cs typeface="Times New Roman" panose="02020603050405020304" pitchFamily="18" charset="0"/>
              </a:rPr>
              <a:t>192 países y 33000 ciudades</a:t>
            </a:r>
            <a:r>
              <a:rPr lang="es-ES" sz="1600" dirty="0">
                <a:solidFill>
                  <a:schemeClr val="accent4"/>
                </a:solidFill>
                <a:latin typeface="Fira Sans Condensed Light" panose="020B0604020202020204" charset="0"/>
                <a:cs typeface="Times New Roman" panose="02020603050405020304" pitchFamily="18" charset="0"/>
              </a:rPr>
              <a:t>. Desde su creación en noviembre de 2008 hasta junio de 2012 se realizaron 10 millones de reservas.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2050" name="Picture 2" descr="Qué es Airbnb y cómo funciona? Aquí te lo explicamos | Digital Trends  Español">
            <a:extLst>
              <a:ext uri="{FF2B5EF4-FFF2-40B4-BE49-F238E27FC236}">
                <a16:creationId xmlns:a16="http://schemas.microsoft.com/office/drawing/2014/main" id="{BE63A53C-82CD-3825-C384-E4E77FEA6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0239" y="1926575"/>
            <a:ext cx="4127988" cy="275199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he Learning Gate | Tec de Monterrey">
            <a:extLst>
              <a:ext uri="{FF2B5EF4-FFF2-40B4-BE49-F238E27FC236}">
                <a16:creationId xmlns:a16="http://schemas.microsoft.com/office/drawing/2014/main" id="{5C8C0F0C-F731-E5DE-4A5E-124BF9DFD663}"/>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196512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F52D102D-4F93-2281-AD1B-84D57A49F65F}"/>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14D65517-B315-20F3-73F7-775E2F157145}"/>
              </a:ext>
            </a:extLst>
          </p:cNvPr>
          <p:cNvSpPr txBox="1">
            <a:spLocks/>
          </p:cNvSpPr>
          <p:nvPr/>
        </p:nvSpPr>
        <p:spPr>
          <a:xfrm>
            <a:off x="373701" y="396090"/>
            <a:ext cx="5206483"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Situación Problema del Cliente </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Airbnb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B1D4B36D-401E-3C30-4D45-EACE98052454}"/>
              </a:ext>
            </a:extLst>
          </p:cNvPr>
          <p:cNvCxnSpPr>
            <a:cxnSpLocks/>
          </p:cNvCxnSpPr>
          <p:nvPr/>
        </p:nvCxnSpPr>
        <p:spPr>
          <a:xfrm>
            <a:off x="373703" y="591018"/>
            <a:ext cx="0" cy="733690"/>
          </a:xfrm>
          <a:prstGeom prst="straightConnector1">
            <a:avLst/>
          </a:prstGeom>
          <a:noFill/>
          <a:ln w="19050" cap="flat" cmpd="sng">
            <a:solidFill>
              <a:srgbClr val="F3F3F3"/>
            </a:solidFill>
            <a:prstDash val="solid"/>
            <a:round/>
            <a:headEnd type="oval" w="med" len="med"/>
            <a:tailEnd type="oval" w="med" len="med"/>
          </a:ln>
        </p:spPr>
      </p:cxnSp>
      <p:pic>
        <p:nvPicPr>
          <p:cNvPr id="3074" name="Picture 2" descr="Qué es un Airbnb y cómo funciona?">
            <a:extLst>
              <a:ext uri="{FF2B5EF4-FFF2-40B4-BE49-F238E27FC236}">
                <a16:creationId xmlns:a16="http://schemas.microsoft.com/office/drawing/2014/main" id="{3BAA6F2B-463E-CF31-7295-9214B1F38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892" y="2029070"/>
            <a:ext cx="4431323" cy="2954215"/>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603;p42">
            <a:extLst>
              <a:ext uri="{FF2B5EF4-FFF2-40B4-BE49-F238E27FC236}">
                <a16:creationId xmlns:a16="http://schemas.microsoft.com/office/drawing/2014/main" id="{3C3535B6-139D-089A-B410-42BDA5585ADB}"/>
              </a:ext>
            </a:extLst>
          </p:cNvPr>
          <p:cNvSpPr txBox="1"/>
          <p:nvPr/>
        </p:nvSpPr>
        <p:spPr>
          <a:xfrm>
            <a:off x="352573" y="1456369"/>
            <a:ext cx="8662473" cy="572701"/>
          </a:xfrm>
          <a:prstGeom prst="rect">
            <a:avLst/>
          </a:prstGeom>
          <a:noFill/>
          <a:ln>
            <a:noFill/>
          </a:ln>
        </p:spPr>
        <p:txBody>
          <a:bodyPr spcFirstLastPara="1" wrap="square" lIns="91425" tIns="182875" rIns="91425" bIns="0" anchor="t" anchorCtr="0">
            <a:noAutofit/>
          </a:bodyPr>
          <a:lstStyle/>
          <a:p>
            <a:pPr algn="just"/>
            <a:r>
              <a:rPr lang="en-US" sz="2300" b="1" dirty="0" err="1">
                <a:solidFill>
                  <a:schemeClr val="tx2"/>
                </a:solidFill>
                <a:latin typeface="Fira Sans Condensed Light" panose="020B0604020202020204" charset="0"/>
                <a:cs typeface="Times New Roman" panose="02020603050405020304" pitchFamily="18" charset="0"/>
              </a:rPr>
              <a:t>Ingresar</a:t>
            </a:r>
            <a:r>
              <a:rPr lang="en-US" sz="2300" b="1" dirty="0">
                <a:solidFill>
                  <a:schemeClr val="tx2"/>
                </a:solidFill>
                <a:latin typeface="Fira Sans Condensed Light" panose="020B0604020202020204" charset="0"/>
                <a:cs typeface="Times New Roman" panose="02020603050405020304" pitchFamily="18" charset="0"/>
              </a:rPr>
              <a:t> a: </a:t>
            </a:r>
            <a:r>
              <a:rPr lang="en-US" sz="2300" b="1" dirty="0">
                <a:solidFill>
                  <a:srgbClr val="FFFF00"/>
                </a:solidFill>
                <a:latin typeface="Fira Sans Condensed Light" panose="020B0604020202020204" charset="0"/>
                <a:cs typeface="Times New Roman" panose="02020603050405020304" pitchFamily="18" charset="0"/>
              </a:rPr>
              <a:t>https://insideairbnb.com/get-the-data/</a:t>
            </a:r>
            <a:endParaRPr lang="en-US" sz="23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pic>
        <p:nvPicPr>
          <p:cNvPr id="3" name="Picture 4" descr="The Learning Gate | Tec de Monterrey">
            <a:extLst>
              <a:ext uri="{FF2B5EF4-FFF2-40B4-BE49-F238E27FC236}">
                <a16:creationId xmlns:a16="http://schemas.microsoft.com/office/drawing/2014/main" id="{FCB039C4-F2BE-2BA4-672E-2C25A50F13B7}"/>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1446942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F3126370-FE3A-15B7-AC41-8BDD0EE7A315}"/>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A93B1ADB-BF3A-0C5A-9026-8CA1F5F807ED}"/>
              </a:ext>
            </a:extLst>
          </p:cNvPr>
          <p:cNvSpPr txBox="1">
            <a:spLocks/>
          </p:cNvSpPr>
          <p:nvPr/>
        </p:nvSpPr>
        <p:spPr>
          <a:xfrm>
            <a:off x="378522" y="604585"/>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Entendimiento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Datos 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indexación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E4CCB87-49C5-6E48-F38C-7F189DA208A3}"/>
              </a:ext>
            </a:extLst>
          </p:cNvPr>
          <p:cNvCxnSpPr/>
          <p:nvPr/>
        </p:nvCxnSpPr>
        <p:spPr>
          <a:xfrm rot="5400000">
            <a:off x="203275" y="88855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D1A1B827-5CCF-A8E5-4B9C-4168963C5B15}"/>
              </a:ext>
            </a:extLst>
          </p:cNvPr>
          <p:cNvSpPr txBox="1"/>
          <p:nvPr/>
        </p:nvSpPr>
        <p:spPr>
          <a:xfrm>
            <a:off x="430024" y="968594"/>
            <a:ext cx="8662473" cy="3954190"/>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Entendimiento</a:t>
            </a:r>
            <a:r>
              <a:rPr lang="en-US" sz="1600" b="1" dirty="0">
                <a:solidFill>
                  <a:schemeClr val="tx2"/>
                </a:solidFill>
                <a:latin typeface="Fira Sans Condensed Light" panose="020B0604020202020204" charset="0"/>
                <a:cs typeface="Times New Roman" panose="02020603050405020304" pitchFamily="18" charset="0"/>
              </a:rPr>
              <a:t> de </a:t>
            </a:r>
            <a:r>
              <a:rPr lang="en-US" sz="1600" b="1" dirty="0" err="1">
                <a:solidFill>
                  <a:schemeClr val="tx2"/>
                </a:solidFill>
                <a:latin typeface="Fira Sans Condensed Light" panose="020B0604020202020204" charset="0"/>
                <a:cs typeface="Times New Roman" panose="02020603050405020304" pitchFamily="18" charset="0"/>
              </a:rPr>
              <a:t>los</a:t>
            </a:r>
            <a:r>
              <a:rPr lang="en-US" sz="1600" b="1" dirty="0">
                <a:solidFill>
                  <a:schemeClr val="tx2"/>
                </a:solidFill>
                <a:latin typeface="Fira Sans Condensed Light" panose="020B0604020202020204" charset="0"/>
                <a:cs typeface="Times New Roman" panose="02020603050405020304" pitchFamily="18" charset="0"/>
              </a:rPr>
              <a:t> Datos</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Ingresar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base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datos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correspondiente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país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asignado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Archivo “listings.csv”</a:t>
            </a: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Realizar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la traducción a español y la descripción de cada una de las variables de la base de datos con ayuda del </a:t>
            </a:r>
            <a:r>
              <a:rPr lang="es-ES" sz="1600" b="1" dirty="0">
                <a:solidFill>
                  <a:schemeClr val="tx2"/>
                </a:solidFill>
                <a:latin typeface="Fira Sans Condensed Light" panose="020B0604020202020204" charset="0"/>
                <a:cs typeface="Times New Roman" panose="02020603050405020304" pitchFamily="18" charset="0"/>
              </a:rPr>
              <a:t>“Data </a:t>
            </a:r>
            <a:r>
              <a:rPr lang="es-ES" sz="1600" b="1" dirty="0" err="1">
                <a:solidFill>
                  <a:schemeClr val="tx2"/>
                </a:solidFill>
                <a:latin typeface="Fira Sans Condensed Light" panose="020B0604020202020204" charset="0"/>
                <a:cs typeface="Times New Roman" panose="02020603050405020304" pitchFamily="18" charset="0"/>
              </a:rPr>
              <a:t>Dictionary</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proporcionado por la compañía Airbnb y coloca la información en una tabla.</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Aplicar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ejemplos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indexación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sobre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base de datos de la ciudad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seleccionada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csv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r>
              <a:rPr lang="es-ES" sz="1600" b="1" dirty="0">
                <a:solidFill>
                  <a:schemeClr val="tx2"/>
                </a:solidFill>
                <a:latin typeface="Fira Sans Condensed Light" panose="020B0604020202020204" charset="0"/>
                <a:cs typeface="Times New Roman" panose="02020603050405020304" pitchFamily="18" charset="0"/>
              </a:rPr>
              <a:t>(a) Todas las filas y solo las columnas “</a:t>
            </a:r>
            <a:r>
              <a:rPr lang="es-ES" sz="1600" b="1" dirty="0" err="1">
                <a:solidFill>
                  <a:schemeClr val="tx2"/>
                </a:solidFill>
                <a:latin typeface="Fira Sans Condensed Light" panose="020B0604020202020204" charset="0"/>
                <a:cs typeface="Times New Roman" panose="02020603050405020304" pitchFamily="18" charset="0"/>
              </a:rPr>
              <a:t>name</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host_name</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room_type</a:t>
            </a:r>
            <a:r>
              <a:rPr lang="es-ES" sz="1600" b="1" dirty="0">
                <a:solidFill>
                  <a:schemeClr val="tx2"/>
                </a:solidFill>
                <a:latin typeface="Fira Sans Condensed Light" panose="020B0604020202020204" charset="0"/>
                <a:cs typeface="Times New Roman" panose="02020603050405020304" pitchFamily="18" charset="0"/>
              </a:rPr>
              <a:t>” y “</a:t>
            </a:r>
            <a:r>
              <a:rPr lang="es-ES" sz="1600" b="1" dirty="0" err="1">
                <a:solidFill>
                  <a:schemeClr val="tx2"/>
                </a:solidFill>
                <a:latin typeface="Fira Sans Condensed Light" panose="020B0604020202020204" charset="0"/>
                <a:cs typeface="Times New Roman" panose="02020603050405020304" pitchFamily="18" charset="0"/>
              </a:rPr>
              <a:t>price</a:t>
            </a:r>
            <a:r>
              <a:rPr lang="es-E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(b) Todas las filas y todas las columnas excepto “id”, “</a:t>
            </a:r>
            <a:r>
              <a:rPr lang="es-ES" sz="1600" b="1" dirty="0" err="1">
                <a:solidFill>
                  <a:schemeClr val="tx2"/>
                </a:solidFill>
                <a:latin typeface="Fira Sans Condensed Light" panose="020B0604020202020204" charset="0"/>
                <a:cs typeface="Times New Roman" panose="02020603050405020304" pitchFamily="18" charset="0"/>
              </a:rPr>
              <a:t>host_id</a:t>
            </a:r>
            <a:r>
              <a:rPr lang="es-ES" sz="1600" b="1" dirty="0">
                <a:solidFill>
                  <a:schemeClr val="tx2"/>
                </a:solidFill>
                <a:latin typeface="Fira Sans Condensed Light" panose="020B0604020202020204" charset="0"/>
                <a:cs typeface="Times New Roman" panose="02020603050405020304" pitchFamily="18" charset="0"/>
              </a:rPr>
              <a:t>” y “</a:t>
            </a:r>
            <a:r>
              <a:rPr lang="es-ES" sz="1600" b="1" dirty="0" err="1">
                <a:solidFill>
                  <a:schemeClr val="tx2"/>
                </a:solidFill>
                <a:latin typeface="Fira Sans Condensed Light" panose="020B0604020202020204" charset="0"/>
                <a:cs typeface="Times New Roman" panose="02020603050405020304" pitchFamily="18" charset="0"/>
              </a:rPr>
              <a:t>host_profile_id</a:t>
            </a:r>
            <a:r>
              <a:rPr lang="es-E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(c) Las filas 0, 50-100, 200, 1000, 2000, 3000, 5000, 7000-8000 y todas las columnas</a:t>
            </a:r>
          </a:p>
          <a:p>
            <a:pPr algn="just"/>
            <a:r>
              <a:rPr lang="es-ES" sz="1600" b="1" dirty="0">
                <a:solidFill>
                  <a:schemeClr val="tx2"/>
                </a:solidFill>
                <a:latin typeface="Fira Sans Condensed Light" panose="020B0604020202020204" charset="0"/>
                <a:cs typeface="Times New Roman" panose="02020603050405020304" pitchFamily="18" charset="0"/>
              </a:rPr>
              <a:t>(d) Todas las filas pares y todas las columnas impares</a:t>
            </a:r>
          </a:p>
          <a:p>
            <a:pPr algn="just"/>
            <a:r>
              <a:rPr lang="es-ES" sz="1600" b="1" dirty="0">
                <a:solidFill>
                  <a:schemeClr val="tx2"/>
                </a:solidFill>
                <a:latin typeface="Fira Sans Condensed Light" panose="020B0604020202020204" charset="0"/>
                <a:cs typeface="Times New Roman" panose="02020603050405020304" pitchFamily="18" charset="0"/>
              </a:rPr>
              <a:t>(e) Todas las filas primas y todas las columnas primas</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9DBD206E-5D7A-57DC-8D03-C2C705ECC1E4}"/>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8A1F9184-89D0-2E59-9C37-F032C026EF3C}"/>
              </a:ext>
            </a:extLst>
          </p:cNvPr>
          <p:cNvPicPr>
            <a:picLocks noChangeAspect="1" noChangeArrowheads="1"/>
          </p:cNvPicPr>
          <p:nvPr/>
        </p:nvPicPr>
        <p:blipFill>
          <a:blip r:embed="rId3">
            <a:lum bright="100000" contrast="100000"/>
          </a:blip>
          <a:srcRect/>
          <a:stretch>
            <a:fillRect/>
          </a:stretch>
        </p:blipFill>
        <p:spPr bwMode="auto">
          <a:xfrm>
            <a:off x="6033052" y="167440"/>
            <a:ext cx="2818846" cy="494885"/>
          </a:xfrm>
          <a:prstGeom prst="rect">
            <a:avLst/>
          </a:prstGeom>
          <a:noFill/>
        </p:spPr>
      </p:pic>
    </p:spTree>
    <p:extLst>
      <p:ext uri="{BB962C8B-B14F-4D97-AF65-F5344CB8AC3E}">
        <p14:creationId xmlns:p14="http://schemas.microsoft.com/office/powerpoint/2010/main" val="3925636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F3126370-FE3A-15B7-AC41-8BDD0EE7A315}"/>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A93B1ADB-BF3A-0C5A-9026-8CA1F5F807ED}"/>
              </a:ext>
            </a:extLst>
          </p:cNvPr>
          <p:cNvSpPr txBox="1">
            <a:spLocks/>
          </p:cNvSpPr>
          <p:nvPr/>
        </p:nvSpPr>
        <p:spPr>
          <a:xfrm>
            <a:off x="378522" y="827322"/>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Entendimiento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Datos 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indexación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E4CCB87-49C5-6E48-F38C-7F189DA208A3}"/>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D1A1B827-5CCF-A8E5-4B9C-4168963C5B15}"/>
              </a:ext>
            </a:extLst>
          </p:cNvPr>
          <p:cNvSpPr txBox="1"/>
          <p:nvPr/>
        </p:nvSpPr>
        <p:spPr>
          <a:xfrm>
            <a:off x="378522" y="1311859"/>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formato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Ciudad_Pais.pdf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ciudad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país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asignado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Este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debe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tabla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punto 3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y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capturas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imagen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ejemplos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indexación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realizados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punto 4</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9DBD206E-5D7A-57DC-8D03-C2C705ECC1E4}"/>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8A1F9184-89D0-2E59-9C37-F032C026EF3C}"/>
              </a:ext>
            </a:extLst>
          </p:cNvPr>
          <p:cNvPicPr>
            <a:picLocks noChangeAspect="1" noChangeArrowheads="1"/>
          </p:cNvPicPr>
          <p:nvPr/>
        </p:nvPicPr>
        <p:blipFill>
          <a:blip r:embed="rId3">
            <a:lum bright="100000" contrast="100000"/>
          </a:blip>
          <a:srcRect/>
          <a:stretch>
            <a:fillRect/>
          </a:stretch>
        </p:blipFill>
        <p:spPr bwMode="auto">
          <a:xfrm>
            <a:off x="6033052" y="272947"/>
            <a:ext cx="2818846" cy="494885"/>
          </a:xfrm>
          <a:prstGeom prst="rect">
            <a:avLst/>
          </a:prstGeom>
          <a:noFill/>
        </p:spPr>
      </p:pic>
    </p:spTree>
    <p:extLst>
      <p:ext uri="{BB962C8B-B14F-4D97-AF65-F5344CB8AC3E}">
        <p14:creationId xmlns:p14="http://schemas.microsoft.com/office/powerpoint/2010/main" val="627638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11180</TotalTime>
  <Words>1631</Words>
  <Application>Microsoft Office PowerPoint</Application>
  <PresentationFormat>Presentación en pantalla (16:9)</PresentationFormat>
  <Paragraphs>235</Paragraphs>
  <Slides>27</Slides>
  <Notes>27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Advent Pro Light</vt:lpstr>
      <vt:lpstr>Anton</vt:lpstr>
      <vt:lpstr>Fira Sans Condensed Light</vt:lpstr>
      <vt:lpstr>Rajdhani</vt:lpstr>
      <vt:lpstr>Ai Tech Agency by Slidesgo</vt:lpstr>
      <vt:lpstr>Presentación de PowerPoint</vt:lpstr>
      <vt:lpstr>Bienvenida</vt:lpstr>
      <vt:lpstr>Presentación de PowerPoint</vt:lpstr>
      <vt:lpstr>CLASE ANTERIOR</vt:lpstr>
      <vt:lpstr>METODOLOGÍA CRISP DM</vt:lpstr>
      <vt:lpstr>ANALÍTICA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291</cp:revision>
  <dcterms:modified xsi:type="dcterms:W3CDTF">2026-08-14T22:37:14Z</dcterms:modified>
</cp:coreProperties>
</file>