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7"/>
  </p:notesMasterIdLst>
  <p:sldIdLst>
    <p:sldId id="256" r:id="rId2"/>
    <p:sldId id="357" r:id="rId3"/>
    <p:sldId id="358" r:id="rId4"/>
    <p:sldId id="426" r:id="rId5"/>
    <p:sldId id="365" r:id="rId6"/>
    <p:sldId id="447" r:id="rId7"/>
    <p:sldId id="407" r:id="rId8"/>
    <p:sldId id="408" r:id="rId9"/>
    <p:sldId id="450" r:id="rId10"/>
    <p:sldId id="409" r:id="rId11"/>
    <p:sldId id="410" r:id="rId12"/>
    <p:sldId id="411" r:id="rId13"/>
    <p:sldId id="449" r:id="rId14"/>
    <p:sldId id="425" r:id="rId15"/>
    <p:sldId id="280" r:id="rId16"/>
  </p:sldIdLst>
  <p:sldSz cx="9144000" cy="5143500" type="screen16x9"/>
  <p:notesSz cx="6858000" cy="9144000"/>
  <p:embeddedFontLst>
    <p:embeddedFont>
      <p:font typeface="Advent Pro Light" panose="020B0604020202020204" charset="0"/>
      <p:regular r:id="rId18"/>
      <p:bold r:id="rId19"/>
    </p:embeddedFont>
    <p:embeddedFont>
      <p:font typeface="Anton" pitchFamily="2" charset="0"/>
      <p:regular r:id="rId20"/>
    </p:embeddedFont>
    <p:embeddedFont>
      <p:font typeface="Fira Sans Condensed Light" panose="020B0403050000020004" pitchFamily="34" charset="0"/>
      <p:regular r:id="rId21"/>
      <p:bold r:id="rId22"/>
      <p:italic r:id="rId23"/>
      <p:boldItalic r:id="rId24"/>
    </p:embeddedFont>
    <p:embeddedFont>
      <p:font typeface="Rajdhani"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71" autoAdjust="0"/>
    <p:restoredTop sz="90909" autoAdjust="0"/>
  </p:normalViewPr>
  <p:slideViewPr>
    <p:cSldViewPr snapToGrid="0">
      <p:cViewPr varScale="1">
        <p:scale>
          <a:sx n="82" d="100"/>
          <a:sy n="82" d="100"/>
        </p:scale>
        <p:origin x="1020"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130F45F-30C4-3C8C-C653-889F45B708B7}"/>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43848EAE-8DD8-467E-ADD7-1BE882EA3E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3F8D5514-3443-00A0-4F63-BF3E81E331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7970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D60449E2-3E47-2A83-6DE8-995BAE6E52EE}"/>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4B698EF2-25F5-B0F4-EEA1-D4E5155290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AF2EEAA4-E40F-E118-6523-97C0B89404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71627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39787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TI3001C</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Analítica de datos y herramientas de inteligencia artificial I </a:t>
            </a: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27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0" y="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4E4FE95-487B-F6E7-B961-92100D7D004E}"/>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BEBD0CCD-83FB-0403-AE73-E14D9EFCDA18}"/>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691EA877-6D84-9175-24EA-AB3488F9EEAA}"/>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-Valores Nulos</a:t>
            </a:r>
            <a:endParaRPr dirty="0"/>
          </a:p>
        </p:txBody>
      </p:sp>
      <p:sp>
        <p:nvSpPr>
          <p:cNvPr id="176" name="Google Shape;176;p30">
            <a:extLst>
              <a:ext uri="{FF2B5EF4-FFF2-40B4-BE49-F238E27FC236}">
                <a16:creationId xmlns:a16="http://schemas.microsoft.com/office/drawing/2014/main" id="{CF426345-2AAF-DDF8-D1A9-02158E008E83}"/>
              </a:ext>
            </a:extLst>
          </p:cNvPr>
          <p:cNvSpPr txBox="1">
            <a:spLocks noGrp="1"/>
          </p:cNvSpPr>
          <p:nvPr>
            <p:ph type="title" idx="2"/>
          </p:nvPr>
        </p:nvSpPr>
        <p:spPr>
          <a:xfrm>
            <a:off x="4849169" y="1001125"/>
            <a:ext cx="21297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cxnSp>
        <p:nvCxnSpPr>
          <p:cNvPr id="177" name="Google Shape;177;p30">
            <a:extLst>
              <a:ext uri="{FF2B5EF4-FFF2-40B4-BE49-F238E27FC236}">
                <a16:creationId xmlns:a16="http://schemas.microsoft.com/office/drawing/2014/main" id="{DAAF4F2D-D293-F51C-B7F6-00327F1A9780}"/>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C2445FDD-E26D-F64E-DE79-EFBEB18CE478}"/>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06A82DC2-F5D6-F7BF-15AC-C1FDA8585AB6}"/>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21780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5506494" y="1537397"/>
            <a:ext cx="3486779" cy="3104942"/>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En la gran mayoría de datos con la que trabajemos es muy probable que nos encontremos con valores perdidos, esto es algo muy normal. El valor faltante puede aparecer de distintas formas por ejemplo como un signo de interrogación, o N/A, como un 0 o simplemente como una celda en blanco, pero en su mayoría nos lo encontramos representado como </a:t>
            </a:r>
            <a:r>
              <a:rPr lang="es-ES" b="1" dirty="0" err="1">
                <a:solidFill>
                  <a:schemeClr val="bg1">
                    <a:lumMod val="60000"/>
                    <a:lumOff val="40000"/>
                  </a:schemeClr>
                </a:solidFill>
                <a:latin typeface="Fira Sans Condensed Light" panose="020B0604020202020204" charset="0"/>
                <a:cs typeface="Times New Roman" panose="02020603050405020304" pitchFamily="18" charset="0"/>
              </a:rPr>
              <a:t>NaN</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 que se refiere a “no un número”</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a:stretch>
            <a:fillRect/>
          </a:stretch>
        </p:blipFill>
        <p:spPr bwMode="auto">
          <a:xfrm>
            <a:off x="382675" y="1557058"/>
            <a:ext cx="4842468" cy="3107742"/>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2208"/>
          <a:stretch>
            <a:fillRect/>
          </a:stretch>
        </p:blipFill>
        <p:spPr bwMode="auto">
          <a:xfrm>
            <a:off x="4079631" y="1431472"/>
            <a:ext cx="4826141" cy="3125049"/>
          </a:xfrm>
          <a:prstGeom prst="rect">
            <a:avLst/>
          </a:prstGeom>
          <a:noFill/>
          <a:ln w="9525">
            <a:noFill/>
            <a:miter lim="800000"/>
            <a:headEnd/>
            <a:tailEnd/>
          </a:ln>
          <a:effectLst/>
        </p:spPr>
      </p:pic>
      <p:sp>
        <p:nvSpPr>
          <p:cNvPr id="10" name="Google Shape;1603;p42"/>
          <p:cNvSpPr txBox="1"/>
          <p:nvPr/>
        </p:nvSpPr>
        <p:spPr>
          <a:xfrm>
            <a:off x="321547" y="1517300"/>
            <a:ext cx="3486779" cy="2713056"/>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Existen muchas maneras para corregir esto y todo dependerá de la persona que este analizando y obviamente del problema en sí para seleccionar cual es la mejor opción para aplicar. Las opciones típicas que debes considerar son las siguientes:</a:t>
            </a:r>
            <a:endParaRPr lang="es-ES" sz="1600" b="1" dirty="0">
              <a:solidFill>
                <a:schemeClr val="tx2"/>
              </a:solidFill>
              <a:latin typeface="Fira Sans Condensed Light" panose="020B060402020202020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37B48C9-454D-B0BF-2A7E-0B0184E2C62E}"/>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CDC4BC77-7B04-E010-647A-6FDAA6C6251C}"/>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117D6BD2-BDA2-49AD-7CE1-5E8D994A60F5}"/>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-Valores Atípicos</a:t>
            </a:r>
            <a:endParaRPr dirty="0"/>
          </a:p>
        </p:txBody>
      </p:sp>
      <p:sp>
        <p:nvSpPr>
          <p:cNvPr id="176" name="Google Shape;176;p30">
            <a:extLst>
              <a:ext uri="{FF2B5EF4-FFF2-40B4-BE49-F238E27FC236}">
                <a16:creationId xmlns:a16="http://schemas.microsoft.com/office/drawing/2014/main" id="{96BAB31C-1F6B-7892-6643-B92AA5BE4C27}"/>
              </a:ext>
            </a:extLst>
          </p:cNvPr>
          <p:cNvSpPr txBox="1">
            <a:spLocks noGrp="1"/>
          </p:cNvSpPr>
          <p:nvPr>
            <p:ph type="title" idx="2"/>
          </p:nvPr>
        </p:nvSpPr>
        <p:spPr>
          <a:xfrm>
            <a:off x="4849169" y="1001125"/>
            <a:ext cx="21297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06</a:t>
            </a:r>
            <a:endParaRPr dirty="0"/>
          </a:p>
        </p:txBody>
      </p:sp>
      <p:cxnSp>
        <p:nvCxnSpPr>
          <p:cNvPr id="177" name="Google Shape;177;p30">
            <a:extLst>
              <a:ext uri="{FF2B5EF4-FFF2-40B4-BE49-F238E27FC236}">
                <a16:creationId xmlns:a16="http://schemas.microsoft.com/office/drawing/2014/main" id="{8D1F828A-FF91-A84B-C1D7-2B859458A38D}"/>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2DE9E02D-6FAF-2ECF-CD33-A063FB9EDBC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74ADE5F7-FD65-614F-E1B4-C9AF10E76E24}"/>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47806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OUTLIERS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300"/>
            <a:ext cx="3486779" cy="2713056"/>
          </a:xfrm>
          <a:prstGeom prst="rect">
            <a:avLst/>
          </a:prstGeom>
          <a:noFill/>
          <a:ln>
            <a:noFill/>
          </a:ln>
        </p:spPr>
        <p:txBody>
          <a:bodyPr spcFirstLastPara="1" wrap="square" lIns="91425" tIns="182875" rIns="91425" bIns="0" anchor="t" anchorCtr="0">
            <a:noAutofit/>
          </a:bodyPr>
          <a:lstStyle/>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Un </a:t>
            </a:r>
            <a:r>
              <a:rPr lang="es-ES" b="1" dirty="0" err="1">
                <a:solidFill>
                  <a:schemeClr val="tx2"/>
                </a:solidFill>
                <a:latin typeface="Fira Sans Condensed Light" panose="020B0604020202020204" charset="0"/>
                <a:cs typeface="Times New Roman" panose="02020603050405020304" pitchFamily="18" charset="0"/>
              </a:rPr>
              <a:t>outlier</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dirty="0">
                <a:solidFill>
                  <a:schemeClr val="bg1">
                    <a:lumMod val="60000"/>
                    <a:lumOff val="40000"/>
                  </a:schemeClr>
                </a:solidFill>
                <a:latin typeface="Fira Sans Condensed Light" panose="020B0604020202020204" charset="0"/>
                <a:cs typeface="Times New Roman" panose="02020603050405020304" pitchFamily="18" charset="0"/>
              </a:rPr>
              <a:t>es una observación anormal y extrema en una muestra estadística o serie temporal de datos que puede afectar potencialmente a la estimación de los parámetros del mismo.</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 Los valores atípicos pueden ser indicativos de datos que pertenecen a una población diferente del resto de las muestras establecidas.</a:t>
            </a:r>
          </a:p>
        </p:txBody>
      </p:sp>
      <p:pic>
        <p:nvPicPr>
          <p:cNvPr id="2" name="Picture 2" descr="Curso de ESTADESTECA MAL: 3. ¿Tus datos son muy feos? Qué hacer con los  outliers | Fernando Blanco, PhD"/>
          <p:cNvPicPr>
            <a:picLocks noChangeAspect="1" noChangeArrowheads="1"/>
          </p:cNvPicPr>
          <p:nvPr/>
        </p:nvPicPr>
        <p:blipFill>
          <a:blip r:embed="rId4"/>
          <a:srcRect/>
          <a:stretch>
            <a:fillRect/>
          </a:stretch>
        </p:blipFill>
        <p:spPr bwMode="auto">
          <a:xfrm>
            <a:off x="4004095" y="1073499"/>
            <a:ext cx="5001050" cy="389038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OUTLIERS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299"/>
            <a:ext cx="3486779" cy="3024555"/>
          </a:xfrm>
          <a:prstGeom prst="rect">
            <a:avLst/>
          </a:prstGeom>
          <a:noFill/>
          <a:ln>
            <a:noFill/>
          </a:ln>
        </p:spPr>
        <p:txBody>
          <a:bodyPr spcFirstLastPara="1" wrap="square" lIns="91425" tIns="182875" rIns="91425" bIns="0" anchor="t" anchorCtr="0">
            <a:noAutofit/>
          </a:bodyPr>
          <a:lstStyle/>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Los valores atípicos son en ocasiones una cuestión subjetiva, y existen numerosos métodos para clasificarlos. </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El método más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enpleado</a:t>
            </a:r>
            <a:r>
              <a:rPr lang="es-ES" dirty="0">
                <a:solidFill>
                  <a:schemeClr val="bg1">
                    <a:lumMod val="60000"/>
                    <a:lumOff val="40000"/>
                  </a:schemeClr>
                </a:solidFill>
                <a:latin typeface="Fira Sans Condensed Light" panose="020B0604020202020204" charset="0"/>
                <a:cs typeface="Times New Roman" panose="02020603050405020304" pitchFamily="18" charset="0"/>
              </a:rPr>
              <a:t> por su sencillez y resultados es el </a:t>
            </a:r>
            <a:r>
              <a:rPr lang="es-ES" b="1" dirty="0">
                <a:solidFill>
                  <a:schemeClr val="tx2"/>
                </a:solidFill>
                <a:latin typeface="Fira Sans Condensed Light" panose="020B0604020202020204" charset="0"/>
                <a:cs typeface="Times New Roman" panose="02020603050405020304" pitchFamily="18" charset="0"/>
              </a:rPr>
              <a:t>test de </a:t>
            </a:r>
            <a:r>
              <a:rPr lang="es-ES" b="1" dirty="0" err="1">
                <a:solidFill>
                  <a:schemeClr val="tx2"/>
                </a:solidFill>
                <a:latin typeface="Fira Sans Condensed Light" panose="020B0604020202020204" charset="0"/>
                <a:cs typeface="Times New Roman" panose="02020603050405020304" pitchFamily="18" charset="0"/>
              </a:rPr>
              <a:t>Tukey</a:t>
            </a:r>
            <a:r>
              <a:rPr lang="es-ES" dirty="0">
                <a:solidFill>
                  <a:schemeClr val="bg1">
                    <a:lumMod val="60000"/>
                    <a:lumOff val="40000"/>
                  </a:schemeClr>
                </a:solidFill>
                <a:latin typeface="Fira Sans Condensed Light" panose="020B0604020202020204" charset="0"/>
                <a:cs typeface="Times New Roman" panose="02020603050405020304" pitchFamily="18" charset="0"/>
              </a:rPr>
              <a:t>, que toma como referencia la diferencia entre el primer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cuartil</a:t>
            </a:r>
            <a:r>
              <a:rPr lang="es-ES" dirty="0">
                <a:solidFill>
                  <a:schemeClr val="bg1">
                    <a:lumMod val="60000"/>
                    <a:lumOff val="40000"/>
                  </a:schemeClr>
                </a:solidFill>
                <a:latin typeface="Fira Sans Condensed Light" panose="020B0604020202020204" charset="0"/>
                <a:cs typeface="Times New Roman" panose="02020603050405020304" pitchFamily="18" charset="0"/>
              </a:rPr>
              <a:t> </a:t>
            </a:r>
            <a:r>
              <a:rPr lang="es-ES" b="1" dirty="0">
                <a:solidFill>
                  <a:schemeClr val="tx2"/>
                </a:solidFill>
                <a:latin typeface="Fira Sans Condensed Light" panose="020B0604020202020204" charset="0"/>
                <a:cs typeface="Times New Roman" panose="02020603050405020304" pitchFamily="18" charset="0"/>
              </a:rPr>
              <a:t>"Q1" </a:t>
            </a:r>
            <a:r>
              <a:rPr lang="es-ES" dirty="0">
                <a:solidFill>
                  <a:schemeClr val="bg1">
                    <a:lumMod val="60000"/>
                    <a:lumOff val="40000"/>
                  </a:schemeClr>
                </a:solidFill>
                <a:latin typeface="Fira Sans Condensed Light" panose="020B0604020202020204" charset="0"/>
                <a:cs typeface="Times New Roman" panose="02020603050405020304" pitchFamily="18" charset="0"/>
              </a:rPr>
              <a:t>y el tercer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cuartil</a:t>
            </a:r>
            <a:r>
              <a:rPr lang="es-ES" dirty="0">
                <a:solidFill>
                  <a:schemeClr val="bg1">
                    <a:lumMod val="60000"/>
                    <a:lumOff val="40000"/>
                  </a:schemeClr>
                </a:solidFill>
                <a:latin typeface="Fira Sans Condensed Light" panose="020B0604020202020204" charset="0"/>
                <a:cs typeface="Times New Roman" panose="02020603050405020304" pitchFamily="18" charset="0"/>
              </a:rPr>
              <a:t> </a:t>
            </a:r>
            <a:r>
              <a:rPr lang="es-ES" b="1" dirty="0">
                <a:solidFill>
                  <a:schemeClr val="tx2"/>
                </a:solidFill>
                <a:latin typeface="Fira Sans Condensed Light" panose="020B0604020202020204" charset="0"/>
                <a:cs typeface="Times New Roman" panose="02020603050405020304" pitchFamily="18" charset="0"/>
              </a:rPr>
              <a:t>"Q3", </a:t>
            </a:r>
            <a:r>
              <a:rPr lang="es-ES" dirty="0">
                <a:solidFill>
                  <a:schemeClr val="bg1">
                    <a:lumMod val="60000"/>
                    <a:lumOff val="40000"/>
                  </a:schemeClr>
                </a:solidFill>
                <a:latin typeface="Fira Sans Condensed Light" panose="020B0604020202020204" charset="0"/>
                <a:cs typeface="Times New Roman" panose="02020603050405020304" pitchFamily="18" charset="0"/>
              </a:rPr>
              <a:t>o rango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intercuartílico</a:t>
            </a:r>
            <a:r>
              <a:rPr lang="es-ES" dirty="0">
                <a:solidFill>
                  <a:schemeClr val="bg1">
                    <a:lumMod val="60000"/>
                    <a:lumOff val="40000"/>
                  </a:schemeClr>
                </a:solidFill>
                <a:latin typeface="Fira Sans Condensed Light" panose="020B0604020202020204" charset="0"/>
                <a:cs typeface="Times New Roman" panose="02020603050405020304" pitchFamily="18" charset="0"/>
              </a:rPr>
              <a:t>. En un diagrama de caja se considera un valor atípico el que se encuentra 1,5 veces esa distancia de uno de esos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cuartiles</a:t>
            </a:r>
            <a:r>
              <a:rPr lang="es-ES" dirty="0">
                <a:solidFill>
                  <a:schemeClr val="bg1">
                    <a:lumMod val="60000"/>
                    <a:lumOff val="40000"/>
                  </a:schemeClr>
                </a:solidFill>
                <a:latin typeface="Fira Sans Condensed Light" panose="020B0604020202020204" charset="0"/>
                <a:cs typeface="Times New Roman" panose="02020603050405020304" pitchFamily="18" charset="0"/>
              </a:rPr>
              <a:t> (atípico leve) o a 3 veces esa distancia (atípico extremo).</a:t>
            </a: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36868" name="Picture 4" descr="Diagramas de caja"/>
          <p:cNvPicPr>
            <a:picLocks noChangeAspect="1" noChangeArrowheads="1"/>
          </p:cNvPicPr>
          <p:nvPr/>
        </p:nvPicPr>
        <p:blipFill>
          <a:blip r:embed="rId4"/>
          <a:srcRect/>
          <a:stretch>
            <a:fillRect/>
          </a:stretch>
        </p:blipFill>
        <p:spPr bwMode="auto">
          <a:xfrm>
            <a:off x="4026772" y="1840052"/>
            <a:ext cx="4835874" cy="239030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OUTLIERS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10" name="Google Shape;1603;p42"/>
          <p:cNvSpPr txBox="1"/>
          <p:nvPr/>
        </p:nvSpPr>
        <p:spPr>
          <a:xfrm>
            <a:off x="321547" y="1517299"/>
            <a:ext cx="3486779" cy="3024555"/>
          </a:xfrm>
          <a:prstGeom prst="rect">
            <a:avLst/>
          </a:prstGeom>
          <a:noFill/>
          <a:ln>
            <a:noFill/>
          </a:ln>
        </p:spPr>
        <p:txBody>
          <a:bodyPr spcFirstLastPara="1" wrap="square" lIns="91425" tIns="182875" rIns="91425" bIns="0" anchor="t" anchorCtr="0">
            <a:noAutofit/>
          </a:bodyPr>
          <a:lstStyle/>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Para el caso de la distribución normal se considera que un valor es extremo cuando está 3 desviaciones típicas alejado de la media. Dado que la distribución normal tiene 2 colas, tenemos que tener en cuenta de que puede alejarse tanto por el lado negativo como el lado positivo.</a:t>
            </a:r>
          </a:p>
          <a:p>
            <a:pPr algn="just"/>
            <a:endParaRPr lang="es-ES"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Los valores extremos se denominan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outliers</a:t>
            </a:r>
            <a:r>
              <a:rPr lang="es-ES" dirty="0">
                <a:solidFill>
                  <a:schemeClr val="bg1">
                    <a:lumMod val="60000"/>
                    <a:lumOff val="40000"/>
                  </a:schemeClr>
                </a:solidFill>
                <a:latin typeface="Fira Sans Condensed Light" panose="020B0604020202020204" charset="0"/>
                <a:cs typeface="Times New Roman" panose="02020603050405020304" pitchFamily="18" charset="0"/>
              </a:rPr>
              <a:t> en inglés.</a:t>
            </a:r>
          </a:p>
          <a:p>
            <a:pPr algn="just"/>
            <a:r>
              <a:rPr lang="es-ES" dirty="0">
                <a:solidFill>
                  <a:schemeClr val="bg1">
                    <a:lumMod val="60000"/>
                    <a:lumOff val="40000"/>
                  </a:schemeClr>
                </a:solidFill>
                <a:latin typeface="Fira Sans Condensed Light" panose="020B0604020202020204" charset="0"/>
                <a:cs typeface="Times New Roman" panose="02020603050405020304" pitchFamily="18" charset="0"/>
              </a:rPr>
              <a:t>Los valores internos se denominan </a:t>
            </a:r>
            <a:r>
              <a:rPr lang="es-ES" dirty="0" err="1">
                <a:solidFill>
                  <a:schemeClr val="bg1">
                    <a:lumMod val="60000"/>
                    <a:lumOff val="40000"/>
                  </a:schemeClr>
                </a:solidFill>
                <a:latin typeface="Fira Sans Condensed Light" panose="020B0604020202020204" charset="0"/>
                <a:cs typeface="Times New Roman" panose="02020603050405020304" pitchFamily="18" charset="0"/>
              </a:rPr>
              <a:t>insiders</a:t>
            </a:r>
            <a:r>
              <a:rPr lang="es-ES" dirty="0">
                <a:solidFill>
                  <a:schemeClr val="bg1">
                    <a:lumMod val="60000"/>
                    <a:lumOff val="40000"/>
                  </a:schemeClr>
                </a:solidFill>
                <a:latin typeface="Fira Sans Condensed Light" panose="020B0604020202020204" charset="0"/>
                <a:cs typeface="Times New Roman" panose="02020603050405020304" pitchFamily="18" charset="0"/>
              </a:rPr>
              <a:t> en inglés.</a:t>
            </a:r>
          </a:p>
        </p:txBody>
      </p:sp>
      <p:sp>
        <p:nvSpPr>
          <p:cNvPr id="36866" name="AutoShape 2" descr="Diagramas de caj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38914" name="Picture 2" descr="Identificación de los valores atípicos"/>
          <p:cNvPicPr>
            <a:picLocks noChangeAspect="1" noChangeArrowheads="1"/>
          </p:cNvPicPr>
          <p:nvPr/>
        </p:nvPicPr>
        <p:blipFill>
          <a:blip r:embed="rId4"/>
          <a:srcRect/>
          <a:stretch>
            <a:fillRect/>
          </a:stretch>
        </p:blipFill>
        <p:spPr bwMode="auto">
          <a:xfrm>
            <a:off x="3979147" y="1156346"/>
            <a:ext cx="3125037" cy="1993218"/>
          </a:xfrm>
          <a:prstGeom prst="rect">
            <a:avLst/>
          </a:prstGeom>
          <a:noFill/>
        </p:spPr>
      </p:pic>
      <p:pic>
        <p:nvPicPr>
          <p:cNvPr id="38916" name="Picture 4" descr="Campana de Gauss en formación | mastermba"/>
          <p:cNvPicPr>
            <a:picLocks noChangeAspect="1" noChangeArrowheads="1"/>
          </p:cNvPicPr>
          <p:nvPr/>
        </p:nvPicPr>
        <p:blipFill>
          <a:blip r:embed="rId5"/>
          <a:srcRect/>
          <a:stretch>
            <a:fillRect/>
          </a:stretch>
        </p:blipFill>
        <p:spPr bwMode="auto">
          <a:xfrm>
            <a:off x="5081786" y="3239337"/>
            <a:ext cx="4062214" cy="190416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4</a:t>
            </a:r>
            <a:r>
              <a:rPr lang="en-US" sz="3000" b="1" dirty="0">
                <a:solidFill>
                  <a:srgbClr val="F3F3F3"/>
                </a:solidFill>
                <a:latin typeface="Rajdhani"/>
                <a:ea typeface="Rajdhani"/>
                <a:cs typeface="Rajdhani"/>
                <a:sym typeface="Rajdhani"/>
              </a:rPr>
              <a:t>.1</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(Valores</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Atípicos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400022"/>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Valores</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Atípicos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4.1”</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VentasTotales.csv</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para reemplazar </a:t>
            </a:r>
            <a:r>
              <a:rPr lang="es-ES" sz="1600" b="1" dirty="0">
                <a:solidFill>
                  <a:schemeClr val="tx2"/>
                </a:solidFill>
                <a:latin typeface="Fira Sans Condensed Light" panose="020B0604020202020204" charset="0"/>
                <a:cs typeface="Times New Roman" panose="02020603050405020304" pitchFamily="18" charset="0"/>
              </a:rPr>
              <a:t>valores nulos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en cada columna</a:t>
            </a: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(Desviación Estándar y Rango Intercuartílico) para eliminar </a:t>
            </a:r>
            <a:r>
              <a:rPr lang="es-ES" sz="1600" b="1" dirty="0" err="1">
                <a:solidFill>
                  <a:schemeClr val="tx2"/>
                </a:solidFill>
                <a:latin typeface="Fira Sans Condensed Light" panose="020B0604020202020204" charset="0"/>
                <a:cs typeface="Times New Roman" panose="02020603050405020304" pitchFamily="18" charset="0"/>
              </a:rPr>
              <a:t>Outliers</a:t>
            </a:r>
            <a:r>
              <a:rPr lang="es-ES" sz="1600" b="1" dirty="0">
                <a:solidFill>
                  <a:schemeClr val="tx2"/>
                </a:solidFill>
                <a:latin typeface="Fira Sans Condensed Light" panose="020B0604020202020204" charset="0"/>
                <a:cs typeface="Times New Roman" panose="02020603050405020304" pitchFamily="18" charset="0"/>
              </a:rPr>
              <a:t>, </a:t>
            </a:r>
            <a:r>
              <a:rPr lang="es-ES" sz="1600" dirty="0">
                <a:solidFill>
                  <a:schemeClr val="tx2"/>
                </a:solidFill>
                <a:latin typeface="Fira Sans Condensed Light" panose="020B0604020202020204" charset="0"/>
                <a:cs typeface="Times New Roman" panose="02020603050405020304" pitchFamily="18" charset="0"/>
              </a:rPr>
              <a:t>comprobar con diagramas de caja por cada columna</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COLAB</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 </a:t>
            </a:r>
            <a:r>
              <a:rPr lang="en-US" sz="1600" dirty="0">
                <a:solidFill>
                  <a:schemeClr val="tx2"/>
                </a:solidFill>
                <a:latin typeface="Fira Sans Condensed Light" panose="020B0604020202020204" charset="0"/>
                <a:cs typeface="Times New Roman" panose="02020603050405020304" pitchFamily="18" charset="0"/>
              </a:rPr>
              <a:t>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por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método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aplicado</a:t>
            </a:r>
            <a:r>
              <a:rPr lang="en-US" sz="1600" dirty="0">
                <a:solidFill>
                  <a:schemeClr val="tx2"/>
                </a:solidFill>
                <a:latin typeface="Fira Sans Condensed Light" panose="020B0604020202020204" charset="0"/>
                <a:cs typeface="Times New Roman" panose="02020603050405020304" pitchFamily="18" charset="0"/>
              </a:rPr>
              <a:t>.</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93701" y="711259"/>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4.2 (Valores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Atípicos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994906"/>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93701" y="1181746"/>
            <a:ext cx="8662473" cy="3647816"/>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Utilizar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Valores</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Atípicos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4.2”</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extendido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tu</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ciudad : </a:t>
            </a:r>
            <a:r>
              <a:rPr lang="en-US" sz="1600" b="1" dirty="0">
                <a:solidFill>
                  <a:schemeClr val="tx2"/>
                </a:solidFill>
                <a:latin typeface="Fira Sans Condensed Light" panose="020B0604020202020204" charset="0"/>
                <a:cs typeface="Times New Roman" panose="02020603050405020304" pitchFamily="18" charset="0"/>
              </a:rPr>
              <a:t>Ciudad.csv </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(Desviación Estándar y Rango Intercuartílico) para eliminar </a:t>
            </a:r>
            <a:r>
              <a:rPr lang="es-ES" sz="1600" b="1" dirty="0" err="1">
                <a:solidFill>
                  <a:schemeClr val="tx2"/>
                </a:solidFill>
                <a:latin typeface="Fira Sans Condensed Light" panose="020B0604020202020204" charset="0"/>
                <a:cs typeface="Times New Roman" panose="02020603050405020304" pitchFamily="18" charset="0"/>
              </a:rPr>
              <a:t>Outliers</a:t>
            </a:r>
            <a:r>
              <a:rPr lang="es-ES" sz="1600" b="1" dirty="0">
                <a:solidFill>
                  <a:schemeClr val="tx2"/>
                </a:solidFill>
                <a:latin typeface="Fira Sans Condensed Light" panose="020B0604020202020204" charset="0"/>
                <a:cs typeface="Times New Roman" panose="02020603050405020304" pitchFamily="18" charset="0"/>
              </a:rPr>
              <a:t>, </a:t>
            </a:r>
            <a:r>
              <a:rPr lang="es-ES" sz="1600" dirty="0">
                <a:solidFill>
                  <a:schemeClr val="tx2"/>
                </a:solidFill>
                <a:latin typeface="Fira Sans Condensed Light" panose="020B0604020202020204" charset="0"/>
                <a:cs typeface="Times New Roman" panose="02020603050405020304" pitchFamily="18" charset="0"/>
              </a:rPr>
              <a:t>comprobar con diagramas de caja por cada columna</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COLAB o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 </a:t>
            </a:r>
            <a:r>
              <a:rPr lang="en-US" sz="1600" dirty="0">
                <a:solidFill>
                  <a:schemeClr val="tx2"/>
                </a:solidFill>
                <a:latin typeface="Fira Sans Condensed Light" panose="020B0604020202020204" charset="0"/>
                <a:cs typeface="Times New Roman" panose="02020603050405020304" pitchFamily="18" charset="0"/>
              </a:rPr>
              <a:t>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por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métodos </a:t>
            </a:r>
            <a:r>
              <a:rPr lang="en-US" sz="1600" dirty="0" err="1">
                <a:solidFill>
                  <a:schemeClr val="tx2"/>
                </a:solidFill>
                <a:latin typeface="Fira Sans Condensed Light" panose="020B0604020202020204" charset="0"/>
                <a:cs typeface="Times New Roman" panose="02020603050405020304" pitchFamily="18" charset="0"/>
              </a:rPr>
              <a:t>aplicado</a:t>
            </a:r>
            <a:r>
              <a:rPr lang="en-US" sz="1600"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11205</TotalTime>
  <Words>868</Words>
  <Application>Microsoft Office PowerPoint</Application>
  <PresentationFormat>Presentación en pantalla (16:9)</PresentationFormat>
  <Paragraphs>139</Paragraphs>
  <Slides>15</Slides>
  <Notes>15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Anton</vt:lpstr>
      <vt:lpstr>Rajdhani</vt:lpstr>
      <vt:lpstr>Fira Sans Condensed Light</vt:lpstr>
      <vt:lpstr>Advent Pro Light</vt:lpstr>
      <vt:lpstr>Arial</vt:lpstr>
      <vt:lpstr>Ai Tech Agency by Slidesgo</vt:lpstr>
      <vt:lpstr>Presentación de PowerPoint</vt:lpstr>
      <vt:lpstr>Bienvenida</vt:lpstr>
      <vt:lpstr>Presentación de PowerPoint</vt:lpstr>
      <vt:lpstr>METODOLOGÍA CRISP DM</vt:lpstr>
      <vt:lpstr>ANALÍTICA DE DATOS</vt:lpstr>
      <vt:lpstr>CLASE ANTERIOR</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322</cp:revision>
  <dcterms:modified xsi:type="dcterms:W3CDTF">2026-08-26T04:28:53Z</dcterms:modified>
</cp:coreProperties>
</file>