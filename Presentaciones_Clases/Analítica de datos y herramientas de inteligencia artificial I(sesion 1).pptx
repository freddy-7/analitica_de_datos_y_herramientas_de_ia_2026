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65"/>
  </p:notesMasterIdLst>
  <p:sldIdLst>
    <p:sldId id="256" r:id="rId2"/>
    <p:sldId id="357" r:id="rId3"/>
    <p:sldId id="358" r:id="rId4"/>
    <p:sldId id="360" r:id="rId5"/>
    <p:sldId id="361" r:id="rId6"/>
    <p:sldId id="443" r:id="rId7"/>
    <p:sldId id="363" r:id="rId8"/>
    <p:sldId id="362" r:id="rId9"/>
    <p:sldId id="364" r:id="rId10"/>
    <p:sldId id="426" r:id="rId11"/>
    <p:sldId id="365" r:id="rId12"/>
    <p:sldId id="366" r:id="rId13"/>
    <p:sldId id="367" r:id="rId14"/>
    <p:sldId id="378" r:id="rId15"/>
    <p:sldId id="370" r:id="rId16"/>
    <p:sldId id="371" r:id="rId17"/>
    <p:sldId id="425" r:id="rId18"/>
    <p:sldId id="372" r:id="rId19"/>
    <p:sldId id="375" r:id="rId20"/>
    <p:sldId id="379" r:id="rId21"/>
    <p:sldId id="374" r:id="rId22"/>
    <p:sldId id="373" r:id="rId23"/>
    <p:sldId id="376" r:id="rId24"/>
    <p:sldId id="377" r:id="rId25"/>
    <p:sldId id="369" r:id="rId26"/>
    <p:sldId id="380" r:id="rId27"/>
    <p:sldId id="381" r:id="rId28"/>
    <p:sldId id="382" r:id="rId29"/>
    <p:sldId id="383" r:id="rId30"/>
    <p:sldId id="384" r:id="rId31"/>
    <p:sldId id="385" r:id="rId32"/>
    <p:sldId id="386" r:id="rId33"/>
    <p:sldId id="387" r:id="rId34"/>
    <p:sldId id="388" r:id="rId35"/>
    <p:sldId id="389" r:id="rId36"/>
    <p:sldId id="390" r:id="rId37"/>
    <p:sldId id="391" r:id="rId38"/>
    <p:sldId id="439" r:id="rId39"/>
    <p:sldId id="414" r:id="rId40"/>
    <p:sldId id="415" r:id="rId41"/>
    <p:sldId id="427" r:id="rId42"/>
    <p:sldId id="438" r:id="rId43"/>
    <p:sldId id="437" r:id="rId44"/>
    <p:sldId id="436" r:id="rId45"/>
    <p:sldId id="428" r:id="rId46"/>
    <p:sldId id="429" r:id="rId47"/>
    <p:sldId id="430" r:id="rId48"/>
    <p:sldId id="431" r:id="rId49"/>
    <p:sldId id="432" r:id="rId50"/>
    <p:sldId id="433" r:id="rId51"/>
    <p:sldId id="434" r:id="rId52"/>
    <p:sldId id="392" r:id="rId53"/>
    <p:sldId id="393" r:id="rId54"/>
    <p:sldId id="394" r:id="rId55"/>
    <p:sldId id="395" r:id="rId56"/>
    <p:sldId id="396" r:id="rId57"/>
    <p:sldId id="399" r:id="rId58"/>
    <p:sldId id="400" r:id="rId59"/>
    <p:sldId id="401" r:id="rId60"/>
    <p:sldId id="402" r:id="rId61"/>
    <p:sldId id="403" r:id="rId62"/>
    <p:sldId id="404" r:id="rId63"/>
    <p:sldId id="280" r:id="rId64"/>
  </p:sldIdLst>
  <p:sldSz cx="9144000" cy="5143500" type="screen16x9"/>
  <p:notesSz cx="6858000" cy="9144000"/>
  <p:embeddedFontLst>
    <p:embeddedFont>
      <p:font typeface="Advent Pro Light" panose="020B0604020202020204" charset="0"/>
      <p:regular r:id="rId66"/>
      <p:bold r:id="rId67"/>
    </p:embeddedFont>
    <p:embeddedFont>
      <p:font typeface="Anton" pitchFamily="2" charset="0"/>
      <p:regular r:id="rId68"/>
    </p:embeddedFont>
    <p:embeddedFont>
      <p:font typeface="Fira Sans Condensed Light" panose="020B0403050000020004" pitchFamily="34" charset="0"/>
      <p:regular r:id="rId69"/>
      <p:bold r:id="rId70"/>
      <p:italic r:id="rId71"/>
      <p:boldItalic r:id="rId72"/>
    </p:embeddedFont>
    <p:embeddedFont>
      <p:font typeface="Rajdhani" panose="020B0604020202020204" charset="0"/>
      <p:regular r:id="rId73"/>
      <p:bold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909" autoAdjust="0"/>
  </p:normalViewPr>
  <p:slideViewPr>
    <p:cSldViewPr snapToGrid="0">
      <p:cViewPr varScale="1">
        <p:scale>
          <a:sx n="82" d="100"/>
          <a:sy n="82" d="100"/>
        </p:scale>
        <p:origin x="105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1.fntdata"/><Relationship Id="rId74"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245DA13-4526-EE48-4147-5A6D3F5EC63A}"/>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8348A8F6-3EE8-48FE-3199-15DA9D53CC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0705169E-31FE-58BB-C2E8-34A211D9C1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4499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0798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0776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9306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7547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67355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9813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4957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1387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0941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67405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3375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91052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38585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96579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70760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77391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12216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51044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67193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4437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9.xml"/><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9.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9.xml"/><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9.xml"/><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9.xml"/><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9.xml"/><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9.xml"/><Relationship Id="rId4" Type="http://schemas.openxmlformats.org/officeDocument/2006/relationships/image" Target="../media/image58.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9.xml"/><Relationship Id="rId4" Type="http://schemas.openxmlformats.org/officeDocument/2006/relationships/image" Target="../media/image59.png"/></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39787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TI3008C</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Analítica de datos y herramientas de inteligencia artificial I </a:t>
            </a: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11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 calcmode="lin" valueType="num">
                                      <p:cBhvr additive="base">
                                        <p:cTn id="1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 calcmode="lin" valueType="num">
                                      <p:cBhvr additive="base">
                                        <p:cTn id="25"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761314"/>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Genera </a:t>
            </a:r>
            <a:r>
              <a:rPr lang="es-ES" sz="1600" b="1" dirty="0">
                <a:solidFill>
                  <a:schemeClr val="accent4"/>
                </a:solidFill>
                <a:latin typeface="Fira Sans Condensed Light" panose="020B0604020202020204" charset="0"/>
                <a:cs typeface="Times New Roman" panose="02020603050405020304" pitchFamily="18" charset="0"/>
              </a:rPr>
              <a:t>soluciones a las problemáticas </a:t>
            </a:r>
            <a:r>
              <a:rPr lang="es-ES" sz="1600" dirty="0">
                <a:solidFill>
                  <a:schemeClr val="accent4"/>
                </a:solidFill>
                <a:latin typeface="Fira Sans Condensed Light" panose="020B0604020202020204" charset="0"/>
                <a:cs typeface="Times New Roman" panose="02020603050405020304" pitchFamily="18" charset="0"/>
              </a:rPr>
              <a:t>de su ámbito profesional, con la incorporación inteligente y oportuna de </a:t>
            </a:r>
            <a:r>
              <a:rPr lang="es-ES" sz="1600" b="1" dirty="0">
                <a:solidFill>
                  <a:schemeClr val="accent4"/>
                </a:solidFill>
                <a:latin typeface="Fira Sans Condensed Light" panose="020B0604020202020204" charset="0"/>
                <a:cs typeface="Times New Roman" panose="02020603050405020304" pitchFamily="18" charset="0"/>
              </a:rPr>
              <a:t>tecnologías digitales de vanguardia</a:t>
            </a:r>
            <a:r>
              <a:rPr lang="es-ES" sz="1600" dirty="0">
                <a:solidFill>
                  <a:schemeClr val="accent4"/>
                </a:solidFill>
                <a:latin typeface="Fira Sans Condensed Light" panose="020B0604020202020204" charset="0"/>
                <a:cs typeface="Times New Roman" panose="02020603050405020304" pitchFamily="18" charset="0"/>
              </a:rPr>
              <a:t>.</a:t>
            </a: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415917"/>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Fines de Aprendizaje</a:t>
            </a:r>
            <a:endParaRPr sz="2200" b="1" dirty="0">
              <a:solidFill>
                <a:srgbClr val="F3F3F3"/>
              </a:solidFill>
              <a:latin typeface="Rajdhani"/>
              <a:ea typeface="Rajdhani"/>
              <a:cs typeface="Rajdhani"/>
              <a:sym typeface="Rajdhani"/>
            </a:endParaRPr>
          </a:p>
        </p:txBody>
      </p:sp>
      <p:pic>
        <p:nvPicPr>
          <p:cNvPr id="28674" name="Picture 2" descr="Idea y objetivo concepto | Vector Premium"/>
          <p:cNvPicPr>
            <a:picLocks noChangeAspect="1" noChangeArrowheads="1"/>
          </p:cNvPicPr>
          <p:nvPr/>
        </p:nvPicPr>
        <p:blipFill>
          <a:blip r:embed="rId3"/>
          <a:srcRect b="4570"/>
          <a:stretch>
            <a:fillRect/>
          </a:stretch>
        </p:blipFill>
        <p:spPr bwMode="auto">
          <a:xfrm>
            <a:off x="1302027" y="1962976"/>
            <a:ext cx="557213" cy="531749"/>
          </a:xfrm>
          <a:prstGeom prst="rect">
            <a:avLst/>
          </a:prstGeom>
          <a:noFill/>
        </p:spPr>
      </p:pic>
      <p:sp>
        <p:nvSpPr>
          <p:cNvPr id="6" name="Google Shape;1603;p42"/>
          <p:cNvSpPr txBox="1"/>
          <p:nvPr/>
        </p:nvSpPr>
        <p:spPr>
          <a:xfrm>
            <a:off x="2038469" y="2788357"/>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Evalúa </a:t>
            </a:r>
            <a:r>
              <a:rPr lang="es-ES" sz="1600" b="1" dirty="0">
                <a:solidFill>
                  <a:schemeClr val="accent4"/>
                </a:solidFill>
                <a:latin typeface="Fira Sans Condensed Light" panose="020B0604020202020204" charset="0"/>
                <a:cs typeface="Times New Roman" panose="02020603050405020304" pitchFamily="18" charset="0"/>
              </a:rPr>
              <a:t>diversas tecnologías de la información</a:t>
            </a:r>
            <a:r>
              <a:rPr lang="es-ES" sz="1600" dirty="0">
                <a:solidFill>
                  <a:schemeClr val="accent4"/>
                </a:solidFill>
                <a:latin typeface="Fira Sans Condensed Light" panose="020B0604020202020204" charset="0"/>
                <a:cs typeface="Times New Roman" panose="02020603050405020304" pitchFamily="18" charset="0"/>
              </a:rPr>
              <a:t>, con apertura en la búsqueda e </a:t>
            </a:r>
            <a:r>
              <a:rPr lang="es-ES" sz="1600" b="1" dirty="0">
                <a:solidFill>
                  <a:schemeClr val="accent4"/>
                </a:solidFill>
                <a:latin typeface="Fira Sans Condensed Light" panose="020B0604020202020204" charset="0"/>
                <a:cs typeface="Times New Roman" panose="02020603050405020304" pitchFamily="18" charset="0"/>
              </a:rPr>
              <a:t>implementación de alternativas </a:t>
            </a:r>
            <a:r>
              <a:rPr lang="es-ES" sz="1600" dirty="0">
                <a:solidFill>
                  <a:schemeClr val="accent4"/>
                </a:solidFill>
                <a:latin typeface="Fira Sans Condensed Light" panose="020B0604020202020204" charset="0"/>
                <a:cs typeface="Times New Roman" panose="02020603050405020304" pitchFamily="18" charset="0"/>
              </a:rPr>
              <a:t>relevantes en la transformación de la práctica profesional.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 name="Picture 2" descr="Idea y objetivo concepto | Vector Premium"/>
          <p:cNvPicPr>
            <a:picLocks noChangeAspect="1" noChangeArrowheads="1"/>
          </p:cNvPicPr>
          <p:nvPr/>
        </p:nvPicPr>
        <p:blipFill>
          <a:blip r:embed="rId3"/>
          <a:srcRect b="4570"/>
          <a:stretch>
            <a:fillRect/>
          </a:stretch>
        </p:blipFill>
        <p:spPr bwMode="auto">
          <a:xfrm>
            <a:off x="1325218" y="2940323"/>
            <a:ext cx="557213" cy="531749"/>
          </a:xfrm>
          <a:prstGeom prst="rect">
            <a:avLst/>
          </a:prstGeom>
          <a:noFill/>
        </p:spPr>
      </p:pic>
      <p:sp>
        <p:nvSpPr>
          <p:cNvPr id="8" name="Google Shape;1603;p42"/>
          <p:cNvSpPr txBox="1"/>
          <p:nvPr/>
        </p:nvSpPr>
        <p:spPr>
          <a:xfrm>
            <a:off x="2021904" y="3765704"/>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Utiliza </a:t>
            </a:r>
            <a:r>
              <a:rPr lang="es-ES" sz="1600" b="1" dirty="0">
                <a:solidFill>
                  <a:schemeClr val="accent4"/>
                </a:solidFill>
                <a:latin typeface="Fira Sans Condensed Light" panose="020B0604020202020204" charset="0"/>
                <a:cs typeface="Times New Roman" panose="02020603050405020304" pitchFamily="18" charset="0"/>
              </a:rPr>
              <a:t>tecnologías digitales</a:t>
            </a:r>
            <a:r>
              <a:rPr lang="es-ES" sz="1600" dirty="0">
                <a:solidFill>
                  <a:schemeClr val="accent4"/>
                </a:solidFill>
                <a:latin typeface="Fira Sans Condensed Light" panose="020B0604020202020204" charset="0"/>
                <a:cs typeface="Times New Roman" panose="02020603050405020304" pitchFamily="18" charset="0"/>
              </a:rPr>
              <a:t>, mediante estrategias conscientes que generan valor en distintos ámbitos de la vida en su conjunto.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 name="Picture 2" descr="Idea y objetivo concepto | Vector Premium"/>
          <p:cNvPicPr>
            <a:picLocks noChangeAspect="1" noChangeArrowheads="1"/>
          </p:cNvPicPr>
          <p:nvPr/>
        </p:nvPicPr>
        <p:blipFill>
          <a:blip r:embed="rId3"/>
          <a:srcRect b="4570"/>
          <a:stretch>
            <a:fillRect/>
          </a:stretch>
        </p:blipFill>
        <p:spPr bwMode="auto">
          <a:xfrm>
            <a:off x="1308653" y="3917670"/>
            <a:ext cx="557213" cy="531749"/>
          </a:xfrm>
          <a:prstGeom prst="rect">
            <a:avLst/>
          </a:prstGeom>
          <a:noFill/>
        </p:spPr>
      </p:pic>
      <p:pic>
        <p:nvPicPr>
          <p:cNvPr id="1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2"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7" y="736174"/>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extLst>
              <p:ext uri="{D42A27DB-BD31-4B8C-83A1-F6EECF244321}">
                <p14:modId xmlns:p14="http://schemas.microsoft.com/office/powerpoint/2010/main" val="2931343662"/>
              </p:ext>
            </p:extLst>
          </p:nvPr>
        </p:nvGraphicFramePr>
        <p:xfrm>
          <a:off x="278228" y="1631612"/>
          <a:ext cx="8587543" cy="3200340"/>
        </p:xfrm>
        <a:graphic>
          <a:graphicData uri="http://schemas.openxmlformats.org/drawingml/2006/table">
            <a:tbl>
              <a:tblPr>
                <a:noFill/>
                <a:tableStyleId>{95E397FE-706D-4E7D-AA01-638484C1D090}</a:tableStyleId>
              </a:tblPr>
              <a:tblGrid>
                <a:gridCol w="2160172">
                  <a:extLst>
                    <a:ext uri="{9D8B030D-6E8A-4147-A177-3AD203B41FA5}">
                      <a16:colId xmlns:a16="http://schemas.microsoft.com/office/drawing/2014/main" val="20000"/>
                    </a:ext>
                  </a:extLst>
                </a:gridCol>
                <a:gridCol w="2215662">
                  <a:extLst>
                    <a:ext uri="{9D8B030D-6E8A-4147-A177-3AD203B41FA5}">
                      <a16:colId xmlns:a16="http://schemas.microsoft.com/office/drawing/2014/main" val="20001"/>
                    </a:ext>
                  </a:extLst>
                </a:gridCol>
                <a:gridCol w="1910861">
                  <a:extLst>
                    <a:ext uri="{9D8B030D-6E8A-4147-A177-3AD203B41FA5}">
                      <a16:colId xmlns:a16="http://schemas.microsoft.com/office/drawing/2014/main" val="20002"/>
                    </a:ext>
                  </a:extLst>
                </a:gridCol>
                <a:gridCol w="2300848">
                  <a:extLst>
                    <a:ext uri="{9D8B030D-6E8A-4147-A177-3AD203B41FA5}">
                      <a16:colId xmlns:a16="http://schemas.microsoft.com/office/drawing/2014/main" val="20003"/>
                    </a:ext>
                  </a:extLst>
                </a:gridCol>
              </a:tblGrid>
              <a:tr h="0">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T1</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T2</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T3</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3000" b="1" dirty="0">
                          <a:solidFill>
                            <a:srgbClr val="F3F3F3"/>
                          </a:solidFill>
                          <a:latin typeface="Rajdhani"/>
                          <a:ea typeface="Rajdhani"/>
                          <a:cs typeface="Rajdhani"/>
                          <a:sym typeface="Rajdhani"/>
                        </a:rPr>
                        <a:t>RETO</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1907289">
                <a:tc>
                  <a:txBody>
                    <a:bodyPr/>
                    <a:lstStyle/>
                    <a:p>
                      <a:pPr marL="0" lvl="0" indent="0" algn="ctr" rtl="0">
                        <a:spcBef>
                          <a:spcPts val="0"/>
                        </a:spcBef>
                        <a:spcAft>
                          <a:spcPts val="0"/>
                        </a:spcAft>
                        <a:buNone/>
                      </a:pPr>
                      <a:r>
                        <a:rPr lang="es-ES" sz="1200" b="1" dirty="0">
                          <a:solidFill>
                            <a:srgbClr val="F3F3F3"/>
                          </a:solidFill>
                          <a:latin typeface="Fira Sans Condensed Light"/>
                          <a:ea typeface="Fira Sans Condensed Light"/>
                          <a:cs typeface="Fira Sans Condensed Light"/>
                          <a:sym typeface="Fira Sans Condensed Light"/>
                        </a:rPr>
                        <a:t>UF1-M6. Arreglos y Matrices. Indexación y Operaciones Fundamentales</a:t>
                      </a:r>
                    </a:p>
                    <a:p>
                      <a:pPr marL="0" lvl="0" indent="0" algn="ctr" rtl="0">
                        <a:spcBef>
                          <a:spcPts val="0"/>
                        </a:spcBef>
                        <a:spcAft>
                          <a:spcPts val="0"/>
                        </a:spcAft>
                        <a:buNone/>
                      </a:pPr>
                      <a:endParaRPr lang="es-E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 Campus Puebla</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dirty="0">
                          <a:solidFill>
                            <a:srgbClr val="F3F3F3"/>
                          </a:solidFill>
                          <a:latin typeface="Fira Sans Condensed Light"/>
                          <a:ea typeface="Fira Sans Condensed Light"/>
                          <a:cs typeface="Fira Sans Condensed Light"/>
                          <a:sym typeface="Fira Sans Condensed Light"/>
                        </a:rPr>
                        <a:t>Martes</a:t>
                      </a:r>
                      <a:r>
                        <a:rPr lang="en-US" sz="1200" baseline="0" dirty="0">
                          <a:solidFill>
                            <a:srgbClr val="F3F3F3"/>
                          </a:solidFill>
                          <a:latin typeface="Fira Sans Condensed Light"/>
                          <a:ea typeface="Fira Sans Condensed Light"/>
                          <a:cs typeface="Fira Sans Condensed Light"/>
                          <a:sym typeface="Fira Sans Condensed Light"/>
                        </a:rPr>
                        <a:t>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15:10 a 17:00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Viernes 15:10 a 17:00</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s-ES" sz="1200" b="1" dirty="0">
                          <a:solidFill>
                            <a:srgbClr val="F3F3F3"/>
                          </a:solidFill>
                          <a:latin typeface="Fira Sans Condensed Light"/>
                          <a:ea typeface="Fira Sans Condensed Light"/>
                          <a:cs typeface="Fira Sans Condensed Light"/>
                          <a:sym typeface="Fira Sans Condensed Light"/>
                        </a:rPr>
                        <a:t>UF2- M2. Carga y almacenamiento de datos y</a:t>
                      </a:r>
                    </a:p>
                    <a:p>
                      <a:pPr marL="0" lvl="0" indent="0" algn="ctr" rtl="0">
                        <a:spcBef>
                          <a:spcPts val="0"/>
                        </a:spcBef>
                        <a:spcAft>
                          <a:spcPts val="0"/>
                        </a:spcAft>
                        <a:buNone/>
                      </a:pPr>
                      <a:endParaRPr lang="es-E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 Campus Puebla</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dirty="0">
                          <a:solidFill>
                            <a:srgbClr val="F3F3F3"/>
                          </a:solidFill>
                          <a:latin typeface="Fira Sans Condensed Light"/>
                          <a:ea typeface="Fira Sans Condensed Light"/>
                          <a:cs typeface="Fira Sans Condensed Light"/>
                          <a:sym typeface="Fira Sans Condensed Light"/>
                        </a:rPr>
                        <a:t>Martes</a:t>
                      </a:r>
                      <a:r>
                        <a:rPr lang="en-US" sz="1200" baseline="0" dirty="0">
                          <a:solidFill>
                            <a:srgbClr val="F3F3F3"/>
                          </a:solidFill>
                          <a:latin typeface="Fira Sans Condensed Light"/>
                          <a:ea typeface="Fira Sans Condensed Light"/>
                          <a:cs typeface="Fira Sans Condensed Light"/>
                          <a:sym typeface="Fira Sans Condensed Light"/>
                        </a:rPr>
                        <a:t>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15:10 a 17:00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Viernes 15:10 a 17:00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s-ES" sz="1200" b="1" dirty="0">
                          <a:solidFill>
                            <a:srgbClr val="F3F3F3"/>
                          </a:solidFill>
                          <a:latin typeface="Fira Sans Condensed Light"/>
                          <a:ea typeface="Fira Sans Condensed Light"/>
                          <a:cs typeface="Fira Sans Condensed Light"/>
                          <a:sym typeface="Fira Sans Condensed Light"/>
                        </a:rPr>
                        <a:t>UF2-M3 Preprocesamiento y limpieza de datos</a:t>
                      </a: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 Campus Puebla</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dirty="0">
                          <a:solidFill>
                            <a:srgbClr val="F3F3F3"/>
                          </a:solidFill>
                          <a:latin typeface="Fira Sans Condensed Light"/>
                          <a:ea typeface="Fira Sans Condensed Light"/>
                          <a:cs typeface="Fira Sans Condensed Light"/>
                          <a:sym typeface="Fira Sans Condensed Light"/>
                        </a:rPr>
                        <a:t>Martes</a:t>
                      </a:r>
                      <a:r>
                        <a:rPr lang="en-US" sz="1200" baseline="0" dirty="0">
                          <a:solidFill>
                            <a:srgbClr val="F3F3F3"/>
                          </a:solidFill>
                          <a:latin typeface="Fira Sans Condensed Light"/>
                          <a:ea typeface="Fira Sans Condensed Light"/>
                          <a:cs typeface="Fira Sans Condensed Light"/>
                          <a:sym typeface="Fira Sans Condensed Light"/>
                        </a:rPr>
                        <a:t>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15:10 a 17:00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Viernes 15:10 a 17:00</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err="1">
                          <a:solidFill>
                            <a:srgbClr val="F3F3F3"/>
                          </a:solidFill>
                          <a:latin typeface="Fira Sans Condensed Light"/>
                          <a:ea typeface="Fira Sans Condensed Light"/>
                          <a:cs typeface="Fira Sans Condensed Light"/>
                          <a:sym typeface="Fira Sans Condensed Light"/>
                        </a:rPr>
                        <a:t>Seguimiento</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 Campus Puebla</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dirty="0">
                          <a:solidFill>
                            <a:srgbClr val="F3F3F3"/>
                          </a:solidFill>
                          <a:latin typeface="Fira Sans Condensed Light"/>
                          <a:ea typeface="Fira Sans Condensed Light"/>
                          <a:cs typeface="Fira Sans Condensed Light"/>
                          <a:sym typeface="Fira Sans Condensed Light"/>
                        </a:rPr>
                        <a:t>Martes</a:t>
                      </a:r>
                      <a:r>
                        <a:rPr lang="en-US" sz="1200" baseline="0" dirty="0">
                          <a:solidFill>
                            <a:srgbClr val="F3F3F3"/>
                          </a:solidFill>
                          <a:latin typeface="Fira Sans Condensed Light"/>
                          <a:ea typeface="Fira Sans Condensed Light"/>
                          <a:cs typeface="Fira Sans Condensed Light"/>
                          <a:sym typeface="Fira Sans Condensed Light"/>
                        </a:rPr>
                        <a:t>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15:10 a 17:00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Viernes 15:10 a 17:00</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04054" y="617633"/>
            <a:ext cx="1414807" cy="874608"/>
          </a:xfrm>
          <a:prstGeom prst="rect">
            <a:avLst/>
          </a:prstGeom>
          <a:noFill/>
        </p:spPr>
      </p:pic>
      <p:cxnSp>
        <p:nvCxnSpPr>
          <p:cNvPr id="8" name="Google Shape;137;p27"/>
          <p:cNvCxnSpPr/>
          <p:nvPr/>
        </p:nvCxnSpPr>
        <p:spPr>
          <a:xfrm>
            <a:off x="2060232" y="73351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28802" y="5028291"/>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5765A591-0C59-68E7-BB5E-5D87E655A16A}"/>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9BB33CEC-6F73-77DE-F0AB-412DF3B4D548}"/>
              </a:ext>
            </a:extLst>
          </p:cNvPr>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CLASE VIRTUAL  DE LOS DÍAS VIERNES (FEEDBACK)</a:t>
            </a:r>
            <a:endParaRPr dirty="0"/>
          </a:p>
        </p:txBody>
      </p:sp>
      <p:pic>
        <p:nvPicPr>
          <p:cNvPr id="6" name="Picture 4" descr="The Learning Gate | Tec de Monterrey">
            <a:extLst>
              <a:ext uri="{FF2B5EF4-FFF2-40B4-BE49-F238E27FC236}">
                <a16:creationId xmlns:a16="http://schemas.microsoft.com/office/drawing/2014/main" id="{5406E40F-54D0-9529-0917-E877C92C056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a:extLst>
              <a:ext uri="{FF2B5EF4-FFF2-40B4-BE49-F238E27FC236}">
                <a16:creationId xmlns:a16="http://schemas.microsoft.com/office/drawing/2014/main" id="{42052FCF-6515-23F1-C2C0-013587FEB796}"/>
              </a:ext>
            </a:extLst>
          </p:cNvPr>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a:extLst>
              <a:ext uri="{FF2B5EF4-FFF2-40B4-BE49-F238E27FC236}">
                <a16:creationId xmlns:a16="http://schemas.microsoft.com/office/drawing/2014/main" id="{4CB2D040-D306-3095-3696-690B652230B0}"/>
              </a:ext>
            </a:extLst>
          </p:cNvPr>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a:extLst>
              <a:ext uri="{FF2B5EF4-FFF2-40B4-BE49-F238E27FC236}">
                <a16:creationId xmlns:a16="http://schemas.microsoft.com/office/drawing/2014/main" id="{0793AEAE-5A69-0A9D-C7CE-1DB39A7057BE}"/>
              </a:ext>
            </a:extLst>
          </p:cNvPr>
          <p:cNvSpPr txBox="1">
            <a:spLocks/>
          </p:cNvSpPr>
          <p:nvPr/>
        </p:nvSpPr>
        <p:spPr>
          <a:xfrm>
            <a:off x="1364190" y="2571750"/>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buNone/>
            </a:pPr>
            <a:endParaRPr lang="es-ES" sz="1600" b="1" dirty="0">
              <a:solidFill>
                <a:schemeClr val="bg1">
                  <a:lumMod val="60000"/>
                  <a:lumOff val="40000"/>
                </a:schemeClr>
              </a:solidFill>
            </a:endParaRPr>
          </a:p>
          <a:p>
            <a:r>
              <a:rPr lang="es-ES" sz="1600" b="1" dirty="0">
                <a:solidFill>
                  <a:schemeClr val="tx2"/>
                </a:solidFill>
              </a:rPr>
              <a:t>Entrar Zoom Reunión</a:t>
            </a:r>
          </a:p>
          <a:p>
            <a:endParaRPr lang="es-ES" sz="1600" b="1" dirty="0">
              <a:solidFill>
                <a:schemeClr val="tx2"/>
              </a:solidFill>
            </a:endParaRPr>
          </a:p>
          <a:p>
            <a:r>
              <a:rPr lang="es-ES" sz="1600" b="1" dirty="0">
                <a:solidFill>
                  <a:schemeClr val="bg1">
                    <a:lumMod val="60000"/>
                    <a:lumOff val="40000"/>
                  </a:schemeClr>
                </a:solidFill>
              </a:rPr>
              <a:t>https://itesm.zoom.us/my/alfredo.garcia</a:t>
            </a:r>
          </a:p>
          <a:p>
            <a:pPr marL="152400" indent="0">
              <a:buNone/>
            </a:pPr>
            <a:endParaRPr lang="en-US" dirty="0"/>
          </a:p>
        </p:txBody>
      </p:sp>
      <p:sp>
        <p:nvSpPr>
          <p:cNvPr id="7" name="Google Shape;136;p27">
            <a:extLst>
              <a:ext uri="{FF2B5EF4-FFF2-40B4-BE49-F238E27FC236}">
                <a16:creationId xmlns:a16="http://schemas.microsoft.com/office/drawing/2014/main" id="{5D97DFCD-4567-FE61-3233-E419BA30D043}"/>
              </a:ext>
            </a:extLst>
          </p:cNvPr>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76961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DINÁMICA DE CLASES </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p:cNvSpPr txBox="1">
            <a:spLocks/>
          </p:cNvSpPr>
          <p:nvPr/>
        </p:nvSpPr>
        <p:spPr>
          <a:xfrm>
            <a:off x="1303288" y="2837794"/>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600" b="1" dirty="0" err="1">
                <a:solidFill>
                  <a:schemeClr val="bg1">
                    <a:lumMod val="60000"/>
                    <a:lumOff val="40000"/>
                  </a:schemeClr>
                </a:solidFill>
              </a:rPr>
              <a:t>Introducción</a:t>
            </a:r>
            <a:r>
              <a:rPr lang="en-US" sz="1600" b="1" dirty="0">
                <a:solidFill>
                  <a:schemeClr val="bg1">
                    <a:lumMod val="60000"/>
                    <a:lumOff val="40000"/>
                  </a:schemeClr>
                </a:solidFill>
              </a:rPr>
              <a:t>:</a:t>
            </a:r>
            <a:r>
              <a:rPr lang="en-US" sz="1600" b="1" dirty="0"/>
              <a:t> </a:t>
            </a:r>
            <a:r>
              <a:rPr lang="en-US" sz="1600" dirty="0" err="1"/>
              <a:t>Teória</a:t>
            </a:r>
            <a:r>
              <a:rPr lang="en-US" sz="1600" dirty="0"/>
              <a:t> y </a:t>
            </a:r>
            <a:r>
              <a:rPr lang="en-US" sz="1600" dirty="0" err="1"/>
              <a:t>descripción</a:t>
            </a:r>
            <a:r>
              <a:rPr lang="en-US" sz="1600" dirty="0"/>
              <a:t> de </a:t>
            </a:r>
            <a:r>
              <a:rPr lang="en-US" sz="1600" dirty="0" err="1"/>
              <a:t>conceptos</a:t>
            </a:r>
            <a:r>
              <a:rPr lang="en-US" sz="1600" dirty="0"/>
              <a:t> y </a:t>
            </a:r>
            <a:r>
              <a:rPr lang="en-US" sz="1600" dirty="0" err="1"/>
              <a:t>procedimientos</a:t>
            </a:r>
            <a:r>
              <a:rPr lang="en-US" sz="1600" dirty="0"/>
              <a:t>.</a:t>
            </a:r>
            <a:endParaRPr lang="es-ES" sz="1600" dirty="0"/>
          </a:p>
          <a:p>
            <a:endParaRPr lang="es-ES" sz="1600" b="1" dirty="0"/>
          </a:p>
          <a:p>
            <a:r>
              <a:rPr lang="es-ES" sz="1600" b="1" dirty="0">
                <a:solidFill>
                  <a:schemeClr val="bg1">
                    <a:lumMod val="60000"/>
                    <a:lumOff val="40000"/>
                  </a:schemeClr>
                </a:solidFill>
              </a:rPr>
              <a:t>Desarrollo: </a:t>
            </a:r>
            <a:r>
              <a:rPr lang="es-ES" sz="1600" dirty="0"/>
              <a:t>Aplicación y seguimiento práctico de los conceptos teóricos.</a:t>
            </a:r>
          </a:p>
          <a:p>
            <a:endParaRPr lang="es-ES" sz="1600" b="1" dirty="0"/>
          </a:p>
          <a:p>
            <a:r>
              <a:rPr lang="es-ES" sz="1600" b="1" dirty="0">
                <a:solidFill>
                  <a:schemeClr val="bg1">
                    <a:lumMod val="60000"/>
                    <a:lumOff val="40000"/>
                  </a:schemeClr>
                </a:solidFill>
              </a:rPr>
              <a:t>Finalización:  </a:t>
            </a:r>
            <a:r>
              <a:rPr lang="es-ES" sz="1600" dirty="0"/>
              <a:t>Practica individual o por equipos de retos por sesión. </a:t>
            </a:r>
            <a:endParaRPr lang="en-US" sz="1600" dirty="0"/>
          </a:p>
          <a:p>
            <a:endParaRPr lang="es-ES" sz="1400" dirty="0"/>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6" y="1185686"/>
            <a:ext cx="4522305"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ACERCA DEL FACILITADOR</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060232" y="1183023"/>
            <a:ext cx="0" cy="630600"/>
          </a:xfrm>
          <a:prstGeom prst="straightConnector1">
            <a:avLst/>
          </a:prstGeom>
          <a:noFill/>
          <a:ln w="19050" cap="flat" cmpd="sng">
            <a:solidFill>
              <a:srgbClr val="F3F3F3"/>
            </a:solidFill>
            <a:prstDash val="solid"/>
            <a:round/>
            <a:headEnd type="oval" w="med" len="med"/>
            <a:tailEnd type="oval" w="med" len="med"/>
          </a:ln>
        </p:spPr>
      </p:cxnSp>
      <p:pic>
        <p:nvPicPr>
          <p:cNvPr id="34818" name="Picture 2" descr="C:\Users\Alfredo Garcia\Desktop\FaceApp_1659560400894.jpg"/>
          <p:cNvPicPr>
            <a:picLocks noChangeAspect="1" noChangeArrowheads="1"/>
          </p:cNvPicPr>
          <p:nvPr/>
        </p:nvPicPr>
        <p:blipFill>
          <a:blip r:embed="rId4"/>
          <a:srcRect/>
          <a:stretch>
            <a:fillRect/>
          </a:stretch>
        </p:blipFill>
        <p:spPr bwMode="auto">
          <a:xfrm>
            <a:off x="882486" y="927279"/>
            <a:ext cx="894962" cy="1060397"/>
          </a:xfrm>
          <a:prstGeom prst="rect">
            <a:avLst/>
          </a:prstGeom>
          <a:noFill/>
        </p:spPr>
      </p:pic>
      <p:sp>
        <p:nvSpPr>
          <p:cNvPr id="10" name="Google Shape;1762;p45"/>
          <p:cNvSpPr txBox="1">
            <a:spLocks/>
          </p:cNvSpPr>
          <p:nvPr/>
        </p:nvSpPr>
        <p:spPr>
          <a:xfrm>
            <a:off x="2130251" y="469576"/>
            <a:ext cx="5186757" cy="382852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r>
              <a:rPr lang="es-ES" sz="1400" b="1" dirty="0"/>
              <a:t>Doctorado en Ingeniería del Lenguaje  y del Conocimiento</a:t>
            </a:r>
          </a:p>
          <a:p>
            <a:endParaRPr lang="es-ES" sz="1400" b="1" dirty="0"/>
          </a:p>
          <a:p>
            <a:r>
              <a:rPr lang="es-ES" sz="1400" b="1" dirty="0"/>
              <a:t>Inteligencia Artificial</a:t>
            </a:r>
          </a:p>
          <a:p>
            <a:endParaRPr lang="es-ES" sz="1400" b="1" dirty="0"/>
          </a:p>
          <a:p>
            <a:r>
              <a:rPr lang="es-ES" sz="1400" b="1" dirty="0"/>
              <a:t>Desarrollo </a:t>
            </a:r>
            <a:r>
              <a:rPr lang="es-ES" sz="1400" b="1" dirty="0" err="1"/>
              <a:t>IoT</a:t>
            </a:r>
            <a:endParaRPr lang="es-ES" sz="1400" b="1" dirty="0"/>
          </a:p>
          <a:p>
            <a:endParaRPr lang="en-US" sz="1400" b="1" dirty="0"/>
          </a:p>
          <a:p>
            <a:r>
              <a:rPr lang="es-ES" sz="1400" b="1" dirty="0"/>
              <a:t>Interacción Humano-Computador</a:t>
            </a:r>
          </a:p>
          <a:p>
            <a:endParaRPr lang="en-US" sz="1400" b="1" dirty="0"/>
          </a:p>
          <a:p>
            <a:r>
              <a:rPr lang="es-ES" sz="1400" b="1" dirty="0"/>
              <a:t>Sistema Nacional de Investigadores SNI</a:t>
            </a:r>
          </a:p>
          <a:p>
            <a:endParaRPr lang="en-US" sz="1400" b="1" dirty="0"/>
          </a:p>
          <a:p>
            <a:endParaRPr lang="es-ES" sz="1400" dirty="0"/>
          </a:p>
          <a:p>
            <a:pPr marL="1066800" lvl="2" indent="0">
              <a:buNone/>
            </a:pPr>
            <a:endParaRPr lang="en-US" dirty="0"/>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Arial"/>
                <a:cs typeface="Arial"/>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INTRODUCCIÓN</a:t>
            </a:r>
            <a:endParaRPr sz="4000" dirty="0"/>
          </a:p>
        </p:txBody>
      </p:sp>
      <p:sp>
        <p:nvSpPr>
          <p:cNvPr id="175" name="Google Shape;175;p30"/>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 -Analítica de datos </a:t>
            </a:r>
          </a:p>
          <a:p>
            <a:pPr marL="146050" lvl="0" indent="0">
              <a:buSzPts val="1300"/>
            </a:pPr>
            <a:r>
              <a:rPr lang="es-ES" dirty="0"/>
              <a:t> -Plataformas en la nube</a:t>
            </a:r>
          </a:p>
          <a:p>
            <a:pPr marL="146050" lvl="0" indent="0">
              <a:buSzPts val="1300"/>
            </a:pPr>
            <a:r>
              <a:rPr lang="es-ES" dirty="0"/>
              <a:t> -Plataformas de almacenamiento local</a:t>
            </a:r>
          </a:p>
          <a:p>
            <a:pPr marL="146050" lvl="0" indent="0">
              <a:buSzPts val="1300"/>
            </a:pPr>
            <a:endParaRPr lang="es-ES"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rot="16200000" flipH="1">
            <a:off x="4356537" y="3231930"/>
            <a:ext cx="2564526" cy="10510"/>
          </a:xfrm>
          <a:prstGeom prst="straightConnector1">
            <a:avLst/>
          </a:prstGeom>
          <a:noFill/>
          <a:ln w="19050" cap="flat" cmpd="sng">
            <a:solidFill>
              <a:srgbClr val="F3F3F3"/>
            </a:solidFill>
            <a:prstDash val="solid"/>
            <a:round/>
            <a:headEnd type="oval" w="med" len="med"/>
            <a:tailEnd type="oval" w="med" len="med"/>
          </a:ln>
        </p:spPr>
      </p:cxnSp>
      <p:pic>
        <p:nvPicPr>
          <p:cNvPr id="46082" name="Picture 2" descr="Como empezar a analizar datos con Python usando Google Colab | by Gustavo  Juantorena | Medium"/>
          <p:cNvPicPr>
            <a:picLocks noChangeAspect="1" noChangeArrowheads="1"/>
          </p:cNvPicPr>
          <p:nvPr/>
        </p:nvPicPr>
        <p:blipFill>
          <a:blip r:embed="rId4"/>
          <a:srcRect/>
          <a:stretch>
            <a:fillRect/>
          </a:stretch>
        </p:blipFill>
        <p:spPr bwMode="auto">
          <a:xfrm>
            <a:off x="344761" y="2019463"/>
            <a:ext cx="5083632" cy="2258247"/>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673449" y="1813864"/>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Colaboratory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Colab</a:t>
            </a:r>
            <a:r>
              <a:rPr lang="es-ES" sz="1600" dirty="0">
                <a:solidFill>
                  <a:schemeClr val="accent4"/>
                </a:solidFill>
                <a:latin typeface="Fira Sans Condensed Light" panose="020B0604020202020204" charset="0"/>
                <a:cs typeface="Times New Roman" panose="02020603050405020304" pitchFamily="18" charset="0"/>
              </a:rPr>
              <a:t>, también conocido como "</a:t>
            </a:r>
            <a:r>
              <a:rPr lang="es-ES" sz="1600" dirty="0" err="1">
                <a:solidFill>
                  <a:schemeClr val="accent4"/>
                </a:solidFill>
                <a:latin typeface="Fira Sans Condensed Light" panose="020B0604020202020204" charset="0"/>
                <a:cs typeface="Times New Roman" panose="02020603050405020304" pitchFamily="18" charset="0"/>
              </a:rPr>
              <a:t>Colaboratory</a:t>
            </a:r>
            <a:r>
              <a:rPr lang="es-ES" sz="1600" dirty="0">
                <a:solidFill>
                  <a:schemeClr val="accent4"/>
                </a:solidFill>
                <a:latin typeface="Fira Sans Condensed Light" panose="020B0604020202020204" charset="0"/>
                <a:cs typeface="Times New Roman" panose="02020603050405020304" pitchFamily="18" charset="0"/>
              </a:rPr>
              <a:t>", te permite programar y ejecutar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utilizando la </a:t>
            </a:r>
            <a:r>
              <a:rPr lang="es-ES" sz="1600" dirty="0" err="1">
                <a:solidFill>
                  <a:schemeClr val="accent4"/>
                </a:solidFill>
                <a:latin typeface="Fira Sans Condensed Light" panose="020B0604020202020204" charset="0"/>
                <a:cs typeface="Times New Roman" panose="02020603050405020304" pitchFamily="18" charset="0"/>
              </a:rPr>
              <a:t>notebook</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Jupyter</a:t>
            </a:r>
            <a:r>
              <a:rPr lang="es-ES" sz="1600" dirty="0">
                <a:solidFill>
                  <a:schemeClr val="accent4"/>
                </a:solidFill>
                <a:latin typeface="Fira Sans Condensed Light" panose="020B0604020202020204" charset="0"/>
                <a:cs typeface="Times New Roman" panose="02020603050405020304" pitchFamily="18" charset="0"/>
              </a:rPr>
              <a:t> en tu navegador con las siguientes ventajas:</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No requiere configuración</a:t>
            </a:r>
          </a:p>
          <a:p>
            <a:pPr algn="just"/>
            <a:r>
              <a:rPr lang="es-ES" sz="1600" dirty="0">
                <a:solidFill>
                  <a:schemeClr val="accent4"/>
                </a:solidFill>
                <a:latin typeface="Fira Sans Condensed Light" panose="020B0604020202020204" charset="0"/>
                <a:cs typeface="Times New Roman" panose="02020603050405020304" pitchFamily="18" charset="0"/>
              </a:rPr>
              <a:t>-Da acceso gratuito a </a:t>
            </a:r>
            <a:r>
              <a:rPr lang="es-ES" sz="1600" dirty="0" err="1">
                <a:solidFill>
                  <a:schemeClr val="accent4"/>
                </a:solidFill>
                <a:latin typeface="Fira Sans Condensed Light" panose="020B0604020202020204" charset="0"/>
                <a:cs typeface="Times New Roman" panose="02020603050405020304" pitchFamily="18" charset="0"/>
              </a:rPr>
              <a:t>GPUs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-Permite compartir contenido fácilmente</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https://colab.research.google.com/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34041" y="29332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Abrir Nuevo cuaderno </a:t>
            </a:r>
          </a:p>
          <a:p>
            <a:pPr algn="just"/>
            <a:r>
              <a:rPr lang="es-ES" sz="1600" dirty="0">
                <a:solidFill>
                  <a:schemeClr val="accent4"/>
                </a:solidFill>
                <a:latin typeface="Fira Sans Condensed Light" panose="020B0604020202020204" charset="0"/>
                <a:cs typeface="Times New Roman" panose="02020603050405020304" pitchFamily="18" charset="0"/>
              </a:rPr>
              <a:t>Archivo/Nuevo cuaderno/Nombre: </a:t>
            </a:r>
            <a:r>
              <a:rPr lang="es-ES" sz="1600" dirty="0" err="1">
                <a:solidFill>
                  <a:schemeClr val="accent4"/>
                </a:solidFill>
                <a:latin typeface="Fira Sans Condensed Light" panose="020B0604020202020204" charset="0"/>
                <a:cs typeface="Times New Roman" panose="02020603050405020304" pitchFamily="18" charset="0"/>
              </a:rPr>
              <a:t>Hola_mundo_colab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Instalar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librerias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requeridas</a:t>
            </a:r>
          </a:p>
          <a:p>
            <a:pPr algn="just"/>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pandas</a:t>
            </a:r>
          </a:p>
          <a:p>
            <a:pPr algn="just"/>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numpy</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matplotlib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NumPy: Funciones basicas de algebra - ▷ Cursos de Programación de 0 a  Experto © Garantizados"/>
          <p:cNvPicPr>
            <a:picLocks noChangeAspect="1" noChangeArrowheads="1"/>
          </p:cNvPicPr>
          <p:nvPr/>
        </p:nvPicPr>
        <p:blipFill>
          <a:blip r:embed="rId4"/>
          <a:srcRect/>
          <a:stretch>
            <a:fillRect/>
          </a:stretch>
        </p:blipFill>
        <p:spPr bwMode="auto">
          <a:xfrm>
            <a:off x="6952016" y="2020913"/>
            <a:ext cx="1833364" cy="1131067"/>
          </a:xfrm>
          <a:prstGeom prst="rect">
            <a:avLst/>
          </a:prstGeom>
          <a:noFill/>
        </p:spPr>
      </p:pic>
      <p:pic>
        <p:nvPicPr>
          <p:cNvPr id="2052" name="Picture 4" descr="Pandas - EcuRed"/>
          <p:cNvPicPr>
            <a:picLocks noChangeAspect="1" noChangeArrowheads="1"/>
          </p:cNvPicPr>
          <p:nvPr/>
        </p:nvPicPr>
        <p:blipFill>
          <a:blip r:embed="rId5"/>
          <a:srcRect/>
          <a:stretch>
            <a:fillRect/>
          </a:stretch>
        </p:blipFill>
        <p:spPr bwMode="auto">
          <a:xfrm>
            <a:off x="3816180" y="2005602"/>
            <a:ext cx="2745279" cy="1147196"/>
          </a:xfrm>
          <a:prstGeom prst="rect">
            <a:avLst/>
          </a:prstGeom>
          <a:noFill/>
        </p:spPr>
      </p:pic>
      <p:pic>
        <p:nvPicPr>
          <p:cNvPr id="2054" name="Picture 6" descr="Caso práctico con Matplotlib y Geopandas - Adictos al trabajo Tutoriales"/>
          <p:cNvPicPr>
            <a:picLocks noChangeAspect="1" noChangeArrowheads="1"/>
          </p:cNvPicPr>
          <p:nvPr/>
        </p:nvPicPr>
        <p:blipFill>
          <a:blip r:embed="rId6"/>
          <a:srcRect/>
          <a:stretch>
            <a:fillRect/>
          </a:stretch>
        </p:blipFill>
        <p:spPr bwMode="auto">
          <a:xfrm>
            <a:off x="3817883" y="3471043"/>
            <a:ext cx="2750706" cy="1051035"/>
          </a:xfrm>
          <a:prstGeom prst="rect">
            <a:avLst/>
          </a:prstGeom>
          <a:noFill/>
        </p:spPr>
      </p:pic>
      <p:pic>
        <p:nvPicPr>
          <p:cNvPr id="2056" name="Picture 8" descr="Create python jupyter notebooks by Naazneen_jatu | Fiverr"/>
          <p:cNvPicPr>
            <a:picLocks noChangeAspect="1" noChangeArrowheads="1"/>
          </p:cNvPicPr>
          <p:nvPr/>
        </p:nvPicPr>
        <p:blipFill>
          <a:blip r:embed="rId7"/>
          <a:srcRect/>
          <a:stretch>
            <a:fillRect/>
          </a:stretch>
        </p:blipFill>
        <p:spPr bwMode="auto">
          <a:xfrm>
            <a:off x="6838485" y="3444877"/>
            <a:ext cx="2098687" cy="106181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https://github.com/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1" name="Google Shape;1603;p42"/>
          <p:cNvSpPr txBox="1"/>
          <p:nvPr/>
        </p:nvSpPr>
        <p:spPr>
          <a:xfrm>
            <a:off x="423530" y="267044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Ingresar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Sign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in</a:t>
            </a:r>
          </a:p>
        </p:txBody>
      </p:sp>
      <p:sp>
        <p:nvSpPr>
          <p:cNvPr id="12" name="Google Shape;1603;p42"/>
          <p:cNvSpPr txBox="1"/>
          <p:nvPr/>
        </p:nvSpPr>
        <p:spPr>
          <a:xfrm>
            <a:off x="418277" y="30856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los datos solicitados</a:t>
            </a:r>
          </a:p>
          <a:p>
            <a:pPr algn="just"/>
            <a:r>
              <a:rPr lang="en-US" sz="1600" dirty="0" err="1">
                <a:solidFill>
                  <a:srgbClr val="F3F3F3"/>
                </a:solidFill>
                <a:latin typeface="Fira Sans Condensed Light"/>
                <a:ea typeface="Fira Sans Condensed Light"/>
                <a:cs typeface="Fira Sans Condensed Light"/>
                <a:sym typeface="Fira Sans Condensed Light"/>
              </a:rPr>
              <a:t>Agregar</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correo</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crear</a:t>
            </a:r>
            <a:r>
              <a:rPr lang="en-US" sz="1600" dirty="0">
                <a:solidFill>
                  <a:srgbClr val="F3F3F3"/>
                </a:solidFill>
                <a:latin typeface="Fira Sans Condensed Light"/>
                <a:ea typeface="Fira Sans Condensed Light"/>
                <a:cs typeface="Fira Sans Condensed Light"/>
                <a:sym typeface="Fira Sans Condensed Light"/>
              </a:rPr>
              <a:t> password y username</a:t>
            </a:r>
            <a:endParaRPr lang="es-ES" sz="1600" dirty="0">
              <a:solidFill>
                <a:srgbClr val="F3F3F3"/>
              </a:solidFill>
              <a:latin typeface="Fira Sans Condensed Light"/>
              <a:ea typeface="Fira Sans Condensed Light"/>
              <a:cs typeface="Fira Sans Condensed Light"/>
              <a:sym typeface="Fira Sans Condensed Light"/>
            </a:endParaRPr>
          </a:p>
        </p:txBody>
      </p:sp>
      <p:sp>
        <p:nvSpPr>
          <p:cNvPr id="13" name="Google Shape;1603;p42"/>
          <p:cNvSpPr txBox="1"/>
          <p:nvPr/>
        </p:nvSpPr>
        <p:spPr>
          <a:xfrm>
            <a:off x="434041" y="375301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Verificar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antibot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4" name="Google Shape;1603;p42"/>
          <p:cNvSpPr txBox="1"/>
          <p:nvPr/>
        </p:nvSpPr>
        <p:spPr>
          <a:xfrm>
            <a:off x="439296" y="413664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Confirmar código enviado a correo</a:t>
            </a:r>
          </a:p>
        </p:txBody>
      </p:sp>
      <p:sp>
        <p:nvSpPr>
          <p:cNvPr id="15" name="Google Shape;1603;p42"/>
          <p:cNvSpPr txBox="1"/>
          <p:nvPr/>
        </p:nvSpPr>
        <p:spPr>
          <a:xfrm>
            <a:off x="4611905" y="2050339"/>
            <a:ext cx="4111682"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Seleccionar  herramientas</a:t>
            </a:r>
          </a:p>
        </p:txBody>
      </p:sp>
      <p:sp>
        <p:nvSpPr>
          <p:cNvPr id="16" name="Google Shape;1603;p42"/>
          <p:cNvSpPr txBox="1"/>
          <p:nvPr/>
        </p:nvSpPr>
        <p:spPr>
          <a:xfrm>
            <a:off x="4627672" y="258111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Crear nuevo repositorio</a:t>
            </a:r>
          </a:p>
          <a:p>
            <a:pPr algn="just"/>
            <a:r>
              <a:rPr lang="es-ES" sz="1600" dirty="0">
                <a:solidFill>
                  <a:schemeClr val="accent4"/>
                </a:solidFill>
                <a:latin typeface="Fira Sans Condensed Light" panose="020B0604020202020204" charset="0"/>
                <a:cs typeface="Times New Roman" panose="02020603050405020304" pitchFamily="18" charset="0"/>
              </a:rPr>
              <a:t>Nombre: Analítica de datos </a:t>
            </a:r>
            <a:endParaRPr lang="es-ES" sz="1600" dirty="0">
              <a:solidFill>
                <a:srgbClr val="F3F3F3"/>
              </a:solidFill>
              <a:latin typeface="Fira Sans Condensed Light"/>
              <a:ea typeface="Fira Sans Condensed Light"/>
              <a:cs typeface="Fira Sans Condensed Light"/>
              <a:sym typeface="Fira Sans Condensed Light"/>
            </a:endParaRP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GitHub del curso</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0" y="2950525"/>
            <a:ext cx="9452582" cy="824233"/>
          </a:xfrm>
          <a:prstGeom prst="rect">
            <a:avLst/>
          </a:prstGeom>
          <a:noFill/>
          <a:ln>
            <a:noFill/>
          </a:ln>
        </p:spPr>
        <p:txBody>
          <a:bodyPr spcFirstLastPara="1" wrap="square" lIns="91425" tIns="182875" rIns="91425" bIns="0" anchor="t" anchorCtr="0">
            <a:noAutofit/>
          </a:bodyPr>
          <a:lstStyle/>
          <a:p>
            <a:pPr algn="just"/>
            <a:r>
              <a:rPr lang="es-ES" sz="2150" b="1" dirty="0">
                <a:solidFill>
                  <a:srgbClr val="F3F3F3"/>
                </a:solidFill>
                <a:latin typeface="Fira Sans Condensed Light"/>
                <a:ea typeface="Fira Sans Condensed Light"/>
                <a:cs typeface="Fira Sans Condensed Light"/>
                <a:sym typeface="Fira Sans Condensed Light"/>
              </a:rPr>
              <a:t>https://github.com/freddy-7/Analitica_de_Datos_y_Herramientas_de_IA_2026.git</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2906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el interprete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es un lenguaje de alto nivel de programación interpretado cuya filosofía hace hincapié en la legibilidad de su código, se utiliza para desarrollar aplicaciones de todo tipo, ejemplos: </a:t>
            </a:r>
            <a:r>
              <a:rPr lang="es-ES" sz="1600" dirty="0" err="1">
                <a:solidFill>
                  <a:schemeClr val="accent4"/>
                </a:solidFill>
                <a:latin typeface="Fira Sans Condensed Light" panose="020B0604020202020204" charset="0"/>
                <a:cs typeface="Times New Roman" panose="02020603050405020304" pitchFamily="18" charset="0"/>
              </a:rPr>
              <a:t>Instagram</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Netflix</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Spotify</a:t>
            </a:r>
            <a:r>
              <a:rPr lang="es-ES" sz="1600" dirty="0">
                <a:solidFill>
                  <a:schemeClr val="accent4"/>
                </a:solidFill>
                <a:latin typeface="Fira Sans Condensed Light" panose="020B0604020202020204" charset="0"/>
                <a:cs typeface="Times New Roman" panose="02020603050405020304" pitchFamily="18" charset="0"/>
              </a:rPr>
              <a:t>, Panda 3D, entre otros.​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8132" name="Picture 4" descr="Los pickles de Python. Programación en Castellano."/>
          <p:cNvPicPr>
            <a:picLocks noChangeAspect="1" noChangeArrowheads="1"/>
          </p:cNvPicPr>
          <p:nvPr/>
        </p:nvPicPr>
        <p:blipFill>
          <a:blip r:embed="rId4"/>
          <a:srcRect/>
          <a:stretch>
            <a:fillRect/>
          </a:stretch>
        </p:blipFill>
        <p:spPr bwMode="auto">
          <a:xfrm>
            <a:off x="249723" y="2585545"/>
            <a:ext cx="4685635" cy="2032438"/>
          </a:xfrm>
          <a:prstGeom prst="rect">
            <a:avLst/>
          </a:prstGeom>
          <a:noFill/>
        </p:spPr>
      </p:pic>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la versión más reciente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https://www.python.org/</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80707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Crear una carpeta en el escritorio</a:t>
            </a:r>
          </a:p>
          <a:p>
            <a:pPr algn="just"/>
            <a:r>
              <a:rPr lang="en-US" sz="1600" dirty="0" err="1">
                <a:solidFill>
                  <a:srgbClr val="F3F3F3"/>
                </a:solidFill>
                <a:latin typeface="Fira Sans Condensed Light"/>
                <a:ea typeface="Fira Sans Condensed Light"/>
                <a:cs typeface="Fira Sans Condensed Light"/>
                <a:sym typeface="Fira Sans Condensed Light"/>
              </a:rPr>
              <a:t>Nombre</a:t>
            </a:r>
            <a:r>
              <a:rPr lang="en-US" sz="1600" dirty="0">
                <a:solidFill>
                  <a:srgbClr val="F3F3F3"/>
                </a:solidFill>
                <a:latin typeface="Fira Sans Condensed Light"/>
                <a:ea typeface="Fira Sans Condensed Light"/>
                <a:cs typeface="Fira Sans Condensed Light"/>
                <a:sym typeface="Fira Sans Condensed Light"/>
              </a:rPr>
              <a:t> de la </a:t>
            </a:r>
            <a:r>
              <a:rPr lang="en-US" sz="1600" dirty="0" err="1">
                <a:solidFill>
                  <a:srgbClr val="F3F3F3"/>
                </a:solidFill>
                <a:latin typeface="Fira Sans Condensed Light"/>
                <a:ea typeface="Fira Sans Condensed Light"/>
                <a:cs typeface="Fira Sans Condensed Light"/>
                <a:sym typeface="Fira Sans Condensed Light"/>
              </a:rPr>
              <a:t>carpeta</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Proyecto</a:t>
            </a:r>
            <a:endParaRPr lang="es-ES" sz="1600" dirty="0">
              <a:solidFill>
                <a:srgbClr val="F3F3F3"/>
              </a:solidFill>
              <a:latin typeface="Fira Sans Condensed Light"/>
              <a:ea typeface="Fira Sans Condensed Light"/>
              <a:cs typeface="Fira Sans Condensed Light"/>
              <a:sym typeface="Fira Sans Condensed Light"/>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4393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184486"/>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30" name="Picture 6">
            <a:extLst>
              <a:ext uri="{FF2B5EF4-FFF2-40B4-BE49-F238E27FC236}">
                <a16:creationId xmlns:a16="http://schemas.microsoft.com/office/drawing/2014/main" id="{86F67D0B-90CA-6ADB-3FFD-9CA6351D0B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4984" y="1900972"/>
            <a:ext cx="4591335" cy="2887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412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pic>
        <p:nvPicPr>
          <p:cNvPr id="48130" name="Picture 2" descr="Editor de código Visual Studio Code para el desarrollo web - Iván Andréi"/>
          <p:cNvPicPr>
            <a:picLocks noChangeAspect="1" noChangeArrowheads="1"/>
          </p:cNvPicPr>
          <p:nvPr/>
        </p:nvPicPr>
        <p:blipFill>
          <a:blip r:embed="rId4"/>
          <a:srcRect/>
          <a:stretch>
            <a:fillRect/>
          </a:stretch>
        </p:blipFill>
        <p:spPr bwMode="auto">
          <a:xfrm>
            <a:off x="583792" y="2449937"/>
            <a:ext cx="4072290" cy="2290229"/>
          </a:xfrm>
          <a:prstGeom prst="rect">
            <a:avLst/>
          </a:prstGeom>
          <a:noFill/>
        </p:spPr>
      </p:pic>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Es un editor de código fuente desarrollado por Microsoft para Windows, Linux, </a:t>
            </a:r>
            <a:r>
              <a:rPr lang="es-ES" sz="1600" dirty="0" err="1">
                <a:solidFill>
                  <a:schemeClr val="accent4"/>
                </a:solidFill>
                <a:latin typeface="Fira Sans Condensed Light" panose="020B0604020202020204" charset="0"/>
                <a:cs typeface="Times New Roman" panose="02020603050405020304" pitchFamily="18" charset="0"/>
              </a:rPr>
              <a:t>macOS</a:t>
            </a:r>
            <a:r>
              <a:rPr lang="es-ES" sz="1600" dirty="0">
                <a:solidFill>
                  <a:schemeClr val="accent4"/>
                </a:solidFill>
                <a:latin typeface="Fira Sans Condensed Light" panose="020B0604020202020204" charset="0"/>
                <a:cs typeface="Times New Roman" panose="02020603050405020304" pitchFamily="18" charset="0"/>
              </a:rPr>
              <a:t> y Web. Incluye soporte para la depuración, control integrado de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resaltado de sintaxis, finalización inteligente de código, fragmentos y refactorización de código.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https://code.visualstudio.com/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78605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Elegir la versión apropiada para mi sistema operativo</a:t>
            </a:r>
          </a:p>
        </p:txBody>
      </p:sp>
      <p:sp>
        <p:nvSpPr>
          <p:cNvPr id="10" name="Google Shape;1603;p42"/>
          <p:cNvSpPr txBox="1"/>
          <p:nvPr/>
        </p:nvSpPr>
        <p:spPr>
          <a:xfrm>
            <a:off x="428787" y="3274791"/>
            <a:ext cx="5467516" cy="66659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atajo al escritorio</a:t>
            </a:r>
          </a:p>
        </p:txBody>
      </p:sp>
      <p:sp>
        <p:nvSpPr>
          <p:cNvPr id="11" name="Google Shape;1603;p42"/>
          <p:cNvSpPr txBox="1"/>
          <p:nvPr/>
        </p:nvSpPr>
        <p:spPr>
          <a:xfrm>
            <a:off x="444551" y="3763523"/>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Correr el programa </a:t>
            </a:r>
          </a:p>
        </p:txBody>
      </p:sp>
      <p:sp>
        <p:nvSpPr>
          <p:cNvPr id="12"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5298" name="Picture 2"/>
          <p:cNvPicPr>
            <a:picLocks noChangeAspect="1" noChangeArrowheads="1"/>
          </p:cNvPicPr>
          <p:nvPr/>
        </p:nvPicPr>
        <p:blipFill>
          <a:blip r:embed="rId4"/>
          <a:srcRect t="12069" r="76897" b="31610"/>
          <a:stretch>
            <a:fillRect/>
          </a:stretch>
        </p:blipFill>
        <p:spPr bwMode="auto">
          <a:xfrm>
            <a:off x="5244663" y="977460"/>
            <a:ext cx="2982954" cy="4088524"/>
          </a:xfrm>
          <a:prstGeom prst="rect">
            <a:avLst/>
          </a:prstGeom>
          <a:noFill/>
          <a:ln w="9525">
            <a:noFill/>
            <a:miter lim="800000"/>
            <a:headEnd/>
            <a:tailEnd/>
          </a:ln>
          <a:effectLst/>
        </p:spPr>
      </p:pic>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2" name="Conector recto de flecha 1">
            <a:extLst>
              <a:ext uri="{FF2B5EF4-FFF2-40B4-BE49-F238E27FC236}">
                <a16:creationId xmlns:a16="http://schemas.microsoft.com/office/drawing/2014/main" id="{14FA5020-6AA3-7D4E-142E-58DC5681F4BF}"/>
              </a:ext>
            </a:extLst>
          </p:cNvPr>
          <p:cNvCxnSpPr>
            <a:cxnSpLocks/>
          </p:cNvCxnSpPr>
          <p:nvPr/>
        </p:nvCxnSpPr>
        <p:spPr>
          <a:xfrm flipH="1">
            <a:off x="8335108" y="144193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709C290A-32D5-F105-413F-70CD7B55F321}"/>
              </a:ext>
            </a:extLst>
          </p:cNvPr>
          <p:cNvCxnSpPr>
            <a:cxnSpLocks/>
          </p:cNvCxnSpPr>
          <p:nvPr/>
        </p:nvCxnSpPr>
        <p:spPr>
          <a:xfrm flipH="1">
            <a:off x="8335108" y="1899138"/>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Conector recto de flecha 3">
            <a:extLst>
              <a:ext uri="{FF2B5EF4-FFF2-40B4-BE49-F238E27FC236}">
                <a16:creationId xmlns:a16="http://schemas.microsoft.com/office/drawing/2014/main" id="{BF52CC19-4F33-79AC-5112-562EC58E7503}"/>
              </a:ext>
            </a:extLst>
          </p:cNvPr>
          <p:cNvCxnSpPr>
            <a:cxnSpLocks/>
          </p:cNvCxnSpPr>
          <p:nvPr/>
        </p:nvCxnSpPr>
        <p:spPr>
          <a:xfrm flipH="1">
            <a:off x="8335108" y="235633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ctor recto de flecha 4">
            <a:extLst>
              <a:ext uri="{FF2B5EF4-FFF2-40B4-BE49-F238E27FC236}">
                <a16:creationId xmlns:a16="http://schemas.microsoft.com/office/drawing/2014/main" id="{82C0338B-1B85-DF5F-4E07-45001DDAD186}"/>
              </a:ext>
            </a:extLst>
          </p:cNvPr>
          <p:cNvCxnSpPr>
            <a:cxnSpLocks/>
          </p:cNvCxnSpPr>
          <p:nvPr/>
        </p:nvCxnSpPr>
        <p:spPr>
          <a:xfrm flipH="1">
            <a:off x="8335108" y="4818185"/>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6322" name="Picture 2"/>
          <p:cNvPicPr>
            <a:picLocks noChangeAspect="1" noChangeArrowheads="1"/>
          </p:cNvPicPr>
          <p:nvPr/>
        </p:nvPicPr>
        <p:blipFill>
          <a:blip r:embed="rId4"/>
          <a:srcRect t="11925" r="76735" b="31208"/>
          <a:stretch>
            <a:fillRect/>
          </a:stretch>
        </p:blipFill>
        <p:spPr bwMode="auto">
          <a:xfrm>
            <a:off x="5244663" y="1054977"/>
            <a:ext cx="2952061" cy="4056993"/>
          </a:xfrm>
          <a:prstGeom prst="rect">
            <a:avLst/>
          </a:prstGeom>
          <a:noFill/>
          <a:ln w="9525">
            <a:noFill/>
            <a:miter lim="800000"/>
            <a:headEnd/>
            <a:tailEnd/>
          </a:ln>
          <a:effectLst/>
        </p:spPr>
      </p:pic>
      <p:sp>
        <p:nvSpPr>
          <p:cNvPr id="9" name="Google Shape;1603;p42"/>
          <p:cNvSpPr txBox="1"/>
          <p:nvPr/>
        </p:nvSpPr>
        <p:spPr>
          <a:xfrm>
            <a:off x="476084" y="3238003"/>
            <a:ext cx="5467516" cy="824233"/>
          </a:xfrm>
          <a:prstGeom prst="rect">
            <a:avLst/>
          </a:prstGeom>
          <a:noFill/>
          <a:ln>
            <a:noFill/>
          </a:ln>
        </p:spPr>
        <p:txBody>
          <a:bodyPr spcFirstLastPara="1" wrap="square" lIns="91425" tIns="182875" rIns="91425" bIns="0" anchor="t" anchorCtr="0">
            <a:noAutofit/>
          </a:bodyPr>
          <a:lstStyle/>
          <a:p>
            <a:pPr algn="just"/>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3" name="Conector recto de flecha 2">
            <a:extLst>
              <a:ext uri="{FF2B5EF4-FFF2-40B4-BE49-F238E27FC236}">
                <a16:creationId xmlns:a16="http://schemas.microsoft.com/office/drawing/2014/main" id="{DD3F64D9-F87A-98A3-C64A-209D6204A98F}"/>
              </a:ext>
            </a:extLst>
          </p:cNvPr>
          <p:cNvCxnSpPr>
            <a:cxnSpLocks/>
          </p:cNvCxnSpPr>
          <p:nvPr/>
        </p:nvCxnSpPr>
        <p:spPr>
          <a:xfrm flipH="1">
            <a:off x="8311662" y="1453662"/>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73E458ED-4BFA-F50D-2B24-A00790D5B97A}"/>
              </a:ext>
            </a:extLst>
          </p:cNvPr>
          <p:cNvCxnSpPr>
            <a:cxnSpLocks/>
          </p:cNvCxnSpPr>
          <p:nvPr/>
        </p:nvCxnSpPr>
        <p:spPr>
          <a:xfrm flipH="1">
            <a:off x="8311662" y="186396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95EB4492-60DA-1F20-6ACD-FEB753F159C4}"/>
              </a:ext>
            </a:extLst>
          </p:cNvPr>
          <p:cNvCxnSpPr>
            <a:cxnSpLocks/>
          </p:cNvCxnSpPr>
          <p:nvPr/>
        </p:nvCxnSpPr>
        <p:spPr>
          <a:xfrm flipH="1">
            <a:off x="8311662" y="3915508"/>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BCABB2FB-B253-98A1-AE5B-1B1D7A90F7B1}"/>
              </a:ext>
            </a:extLst>
          </p:cNvPr>
          <p:cNvCxnSpPr>
            <a:cxnSpLocks/>
          </p:cNvCxnSpPr>
          <p:nvPr/>
        </p:nvCxnSpPr>
        <p:spPr>
          <a:xfrm flipH="1">
            <a:off x="8311662" y="4443046"/>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2113" y="2313646"/>
            <a:ext cx="3956611"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Crear nuestro primer programa de prueba </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“Hola </a:t>
            </a:r>
            <a:r>
              <a:rPr lang="en-US" sz="1600" b="1" dirty="0" err="1">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mundo</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a:t>
            </a:r>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Código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descrito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en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clase</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1603;p42">
            <a:extLst>
              <a:ext uri="{FF2B5EF4-FFF2-40B4-BE49-F238E27FC236}">
                <a16:creationId xmlns:a16="http://schemas.microsoft.com/office/drawing/2014/main" id="{D54A503C-66C1-1F73-0CD3-42E1845B85D1}"/>
              </a:ext>
            </a:extLst>
          </p:cNvPr>
          <p:cNvSpPr txBox="1"/>
          <p:nvPr/>
        </p:nvSpPr>
        <p:spPr>
          <a:xfrm>
            <a:off x="4330312" y="1859488"/>
            <a:ext cx="4521586" cy="908317"/>
          </a:xfrm>
          <a:prstGeom prst="rect">
            <a:avLst/>
          </a:prstGeom>
          <a:noFill/>
          <a:ln>
            <a:noFill/>
          </a:ln>
        </p:spPr>
        <p:txBody>
          <a:bodyPr spcFirstLastPara="1" wrap="square" lIns="91425" tIns="182875" rIns="91425" bIns="0" anchor="t" anchorCtr="0">
            <a:noAutofit/>
          </a:bodyPr>
          <a:lstStyle/>
          <a:p>
            <a:pPr algn="just"/>
            <a:r>
              <a:rPr lang="es-ES" sz="1600" b="1" dirty="0">
                <a:solidFill>
                  <a:srgbClr val="FFFF00"/>
                </a:solidFill>
                <a:latin typeface="Fira Sans Condensed Light" panose="020B0604020202020204" charset="0"/>
                <a:cs typeface="Times New Roman" panose="02020603050405020304" pitchFamily="18" charset="0"/>
              </a:rPr>
              <a:t>NOTA: EN CASO DE NO TENER INSTALADA LA PAQUETERIA PIP,  AGREGAR EL PATH DE LAS VARIABLES DE ENTORNO o intentar desde </a:t>
            </a:r>
            <a:r>
              <a:rPr lang="es-ES" sz="1600" b="1" dirty="0" err="1">
                <a:solidFill>
                  <a:srgbClr val="FFFF00"/>
                </a:solidFill>
                <a:latin typeface="Fira Sans Condensed Light" panose="020B0604020202020204" charset="0"/>
                <a:cs typeface="Times New Roman" panose="02020603050405020304" pitchFamily="18" charset="0"/>
              </a:rPr>
              <a:t>cmd</a:t>
            </a:r>
            <a:r>
              <a:rPr lang="es-ES" sz="1600" b="1" dirty="0">
                <a:solidFill>
                  <a:srgbClr val="FFFF00"/>
                </a:solidFill>
                <a:latin typeface="Fira Sans Condensed Light" panose="020B0604020202020204" charset="0"/>
                <a:cs typeface="Times New Roman" panose="02020603050405020304" pitchFamily="18" charset="0"/>
              </a:rPr>
              <a:t>:</a:t>
            </a:r>
          </a:p>
          <a:p>
            <a:pPr algn="just"/>
            <a:endParaRPr lang="es-ES" sz="1600" b="1" dirty="0">
              <a:solidFill>
                <a:srgbClr val="FFFF00"/>
              </a:solidFill>
              <a:latin typeface="Fira Sans Condensed Light" panose="020B0604020202020204" charset="0"/>
              <a:cs typeface="Times New Roman" panose="02020603050405020304" pitchFamily="18" charset="0"/>
            </a:endParaRPr>
          </a:p>
          <a:p>
            <a:pPr algn="just"/>
            <a:r>
              <a:rPr lang="es-ES" sz="1600" b="1" dirty="0">
                <a:solidFill>
                  <a:srgbClr val="FFFF00"/>
                </a:solidFill>
                <a:latin typeface="Fira Sans Condensed Light" panose="020B0604020202020204" charset="0"/>
                <a:ea typeface="Fira Sans Condensed Light"/>
                <a:cs typeface="Times New Roman" panose="02020603050405020304" pitchFamily="18" charset="0"/>
                <a:sym typeface="Fira Sans Condensed Light"/>
              </a:rPr>
              <a:t>Windows:</a:t>
            </a:r>
          </a:p>
          <a:p>
            <a:pPr algn="just"/>
            <a:r>
              <a:rPr lang="sv-SE" sz="1600" dirty="0">
                <a:solidFill>
                  <a:schemeClr val="bg1">
                    <a:lumMod val="60000"/>
                    <a:lumOff val="40000"/>
                  </a:schemeClr>
                </a:solidFill>
              </a:rPr>
              <a:t>python -m ensurepip --upgrade</a:t>
            </a:r>
          </a:p>
          <a:p>
            <a:pPr algn="just"/>
            <a:r>
              <a:rPr lang="sv-SE" sz="1600" dirty="0">
                <a:solidFill>
                  <a:schemeClr val="bg1">
                    <a:lumMod val="60000"/>
                    <a:lumOff val="40000"/>
                  </a:schemeClr>
                </a:solidFill>
              </a:rPr>
              <a:t>python -m pip install --upgrade pip</a:t>
            </a:r>
          </a:p>
          <a:p>
            <a:pPr algn="just"/>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python -m pip –version</a:t>
            </a:r>
          </a:p>
          <a:p>
            <a:pPr algn="just"/>
            <a:endPar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s-ES" sz="1600" b="1" dirty="0">
                <a:solidFill>
                  <a:srgbClr val="FFFF00"/>
                </a:solidFill>
                <a:latin typeface="Fira Sans Condensed Light" panose="020B0604020202020204" charset="0"/>
                <a:ea typeface="Fira Sans Condensed Light"/>
                <a:cs typeface="Times New Roman" panose="02020603050405020304" pitchFamily="18" charset="0"/>
                <a:sym typeface="Fira Sans Condensed Light"/>
              </a:rPr>
              <a:t>Mac:</a:t>
            </a:r>
          </a:p>
          <a:p>
            <a:pPr algn="just"/>
            <a:r>
              <a:rPr lang="en-US" sz="1600" dirty="0">
                <a:solidFill>
                  <a:schemeClr val="bg1">
                    <a:lumMod val="60000"/>
                    <a:lumOff val="40000"/>
                  </a:schemeClr>
                </a:solidFill>
              </a:rPr>
              <a:t>python3 -m pip install </a:t>
            </a:r>
            <a:r>
              <a:rPr lang="en-US" sz="1600" dirty="0" err="1">
                <a:solidFill>
                  <a:schemeClr val="bg1">
                    <a:lumMod val="60000"/>
                    <a:lumOff val="40000"/>
                  </a:schemeClr>
                </a:solidFill>
              </a:rPr>
              <a:t>paquete</a:t>
            </a:r>
            <a:endPar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7135969"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Ingreso a configuración o ajustes y coloco en búsqueda lo siguiente:</a:t>
            </a:r>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Variables</a:t>
            </a:r>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56B274AC-CFFF-8FAD-D674-AAA0B882DA77}"/>
              </a:ext>
            </a:extLst>
          </p:cNvPr>
          <p:cNvPicPr>
            <a:picLocks noChangeAspect="1"/>
          </p:cNvPicPr>
          <p:nvPr/>
        </p:nvPicPr>
        <p:blipFill rotWithShape="1">
          <a:blip r:embed="rId4"/>
          <a:srcRect r="51796" b="62091"/>
          <a:stretch/>
        </p:blipFill>
        <p:spPr>
          <a:xfrm>
            <a:off x="2325336" y="2734908"/>
            <a:ext cx="4493327" cy="1986674"/>
          </a:xfrm>
          <a:prstGeom prst="rect">
            <a:avLst/>
          </a:prstGeom>
        </p:spPr>
      </p:pic>
    </p:spTree>
    <p:extLst>
      <p:ext uri="{BB962C8B-B14F-4D97-AF65-F5344CB8AC3E}">
        <p14:creationId xmlns:p14="http://schemas.microsoft.com/office/powerpoint/2010/main" val="60481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Selecciono: </a:t>
            </a:r>
            <a:r>
              <a:rPr lang="es-ES" sz="1600" dirty="0">
                <a:solidFill>
                  <a:schemeClr val="tx2"/>
                </a:solidFill>
                <a:latin typeface="Fira Sans Condensed Light" panose="020B0604020202020204" charset="0"/>
                <a:cs typeface="Times New Roman" panose="02020603050405020304" pitchFamily="18" charset="0"/>
              </a:rPr>
              <a:t>“Editar las variables de entorno del sistema”</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6B2D8E7A-3268-8822-878F-647600C1FFD5}"/>
              </a:ext>
            </a:extLst>
          </p:cNvPr>
          <p:cNvPicPr>
            <a:picLocks noChangeAspect="1"/>
          </p:cNvPicPr>
          <p:nvPr/>
        </p:nvPicPr>
        <p:blipFill rotWithShape="1">
          <a:blip r:embed="rId4"/>
          <a:srcRect l="35658" t="9553" r="34022" b="26370"/>
          <a:stretch/>
        </p:blipFill>
        <p:spPr>
          <a:xfrm>
            <a:off x="4887333" y="1038752"/>
            <a:ext cx="3344858" cy="3974312"/>
          </a:xfrm>
          <a:prstGeom prst="rect">
            <a:avLst/>
          </a:prstGeom>
        </p:spPr>
      </p:pic>
      <p:sp>
        <p:nvSpPr>
          <p:cNvPr id="5" name="Google Shape;1603;p42">
            <a:extLst>
              <a:ext uri="{FF2B5EF4-FFF2-40B4-BE49-F238E27FC236}">
                <a16:creationId xmlns:a16="http://schemas.microsoft.com/office/drawing/2014/main" id="{08DC46DE-941C-0074-F92F-2D51C608999C}"/>
              </a:ext>
            </a:extLst>
          </p:cNvPr>
          <p:cNvSpPr txBox="1"/>
          <p:nvPr/>
        </p:nvSpPr>
        <p:spPr>
          <a:xfrm>
            <a:off x="378523" y="2969029"/>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Selecciono: </a:t>
            </a:r>
            <a:r>
              <a:rPr lang="es-ES" sz="1600" dirty="0">
                <a:solidFill>
                  <a:schemeClr val="tx2"/>
                </a:solidFill>
                <a:latin typeface="Fira Sans Condensed Light" panose="020B0604020202020204" charset="0"/>
                <a:cs typeface="Times New Roman" panose="02020603050405020304" pitchFamily="18" charset="0"/>
              </a:rPr>
              <a:t>“Variables de entorno”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5550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Selecciono: </a:t>
            </a:r>
            <a:r>
              <a:rPr lang="es-ES" sz="1600" dirty="0">
                <a:solidFill>
                  <a:schemeClr val="tx2"/>
                </a:solidFill>
                <a:latin typeface="Fira Sans Condensed Light" panose="020B0604020202020204" charset="0"/>
                <a:cs typeface="Times New Roman" panose="02020603050405020304" pitchFamily="18" charset="0"/>
              </a:rPr>
              <a:t>“</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08DC46DE-941C-0074-F92F-2D51C608999C}"/>
              </a:ext>
            </a:extLst>
          </p:cNvPr>
          <p:cNvSpPr txBox="1"/>
          <p:nvPr/>
        </p:nvSpPr>
        <p:spPr>
          <a:xfrm>
            <a:off x="378523" y="2969029"/>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Selecciono: </a:t>
            </a:r>
            <a:r>
              <a:rPr lang="es-ES" sz="1600" dirty="0">
                <a:solidFill>
                  <a:schemeClr val="tx2"/>
                </a:solidFill>
                <a:latin typeface="Fira Sans Condensed Light" panose="020B0604020202020204" charset="0"/>
                <a:cs typeface="Times New Roman" panose="02020603050405020304" pitchFamily="18" charset="0"/>
              </a:rPr>
              <a:t>“Editar”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pic>
        <p:nvPicPr>
          <p:cNvPr id="3" name="Imagen 2">
            <a:extLst>
              <a:ext uri="{FF2B5EF4-FFF2-40B4-BE49-F238E27FC236}">
                <a16:creationId xmlns:a16="http://schemas.microsoft.com/office/drawing/2014/main" id="{39D18B46-833C-1D51-A7D8-FB85C789491C}"/>
              </a:ext>
            </a:extLst>
          </p:cNvPr>
          <p:cNvPicPr>
            <a:picLocks noChangeAspect="1"/>
          </p:cNvPicPr>
          <p:nvPr/>
        </p:nvPicPr>
        <p:blipFill rotWithShape="1">
          <a:blip r:embed="rId4"/>
          <a:srcRect l="27581" t="8641" r="27377" b="16109"/>
          <a:stretch/>
        </p:blipFill>
        <p:spPr>
          <a:xfrm>
            <a:off x="4653304" y="1091600"/>
            <a:ext cx="4118583" cy="3868615"/>
          </a:xfrm>
          <a:prstGeom prst="rect">
            <a:avLst/>
          </a:prstGeom>
        </p:spPr>
      </p:pic>
    </p:spTree>
    <p:extLst>
      <p:ext uri="{BB962C8B-B14F-4D97-AF65-F5344CB8AC3E}">
        <p14:creationId xmlns:p14="http://schemas.microsoft.com/office/powerpoint/2010/main" val="392982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Selecciono: </a:t>
            </a:r>
            <a:r>
              <a:rPr lang="es-ES" sz="1600" dirty="0">
                <a:solidFill>
                  <a:schemeClr val="tx2"/>
                </a:solidFill>
                <a:latin typeface="Fira Sans Condensed Light" panose="020B0604020202020204" charset="0"/>
                <a:cs typeface="Times New Roman" panose="02020603050405020304" pitchFamily="18" charset="0"/>
              </a:rPr>
              <a:t>“Nuevo”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AF5A97E5-E663-CBB4-34C8-59180D23A26A}"/>
              </a:ext>
            </a:extLst>
          </p:cNvPr>
          <p:cNvPicPr>
            <a:picLocks noChangeAspect="1"/>
          </p:cNvPicPr>
          <p:nvPr/>
        </p:nvPicPr>
        <p:blipFill rotWithShape="1">
          <a:blip r:embed="rId4"/>
          <a:srcRect l="30530" t="12857" r="30567" b="20669"/>
          <a:stretch/>
        </p:blipFill>
        <p:spPr>
          <a:xfrm>
            <a:off x="4846628" y="1143513"/>
            <a:ext cx="3918849" cy="3764789"/>
          </a:xfrm>
          <a:prstGeom prst="rect">
            <a:avLst/>
          </a:prstGeom>
        </p:spPr>
      </p:pic>
    </p:spTree>
    <p:extLst>
      <p:ext uri="{BB962C8B-B14F-4D97-AF65-F5344CB8AC3E}">
        <p14:creationId xmlns:p14="http://schemas.microsoft.com/office/powerpoint/2010/main" val="250218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Busco: </a:t>
            </a:r>
            <a:r>
              <a:rPr lang="es-ES" sz="1600" dirty="0">
                <a:solidFill>
                  <a:schemeClr val="tx2"/>
                </a:solidFill>
                <a:latin typeface="Fira Sans Condensed Light" panose="020B0604020202020204" charset="0"/>
                <a:cs typeface="Times New Roman" panose="02020603050405020304" pitchFamily="18" charset="0"/>
              </a:rPr>
              <a:t>“Python”</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89BC5306-D012-A541-0193-37D7F907C84B}"/>
              </a:ext>
            </a:extLst>
          </p:cNvPr>
          <p:cNvPicPr>
            <a:picLocks noChangeAspect="1"/>
          </p:cNvPicPr>
          <p:nvPr/>
        </p:nvPicPr>
        <p:blipFill rotWithShape="1">
          <a:blip r:embed="rId4"/>
          <a:srcRect l="25915" t="523" r="17719" b="-24"/>
          <a:stretch/>
        </p:blipFill>
        <p:spPr>
          <a:xfrm>
            <a:off x="4571999" y="1050624"/>
            <a:ext cx="3985067" cy="3955129"/>
          </a:xfrm>
          <a:prstGeom prst="rect">
            <a:avLst/>
          </a:prstGeom>
        </p:spPr>
      </p:pic>
      <p:sp>
        <p:nvSpPr>
          <p:cNvPr id="5" name="Google Shape;1603;p42">
            <a:extLst>
              <a:ext uri="{FF2B5EF4-FFF2-40B4-BE49-F238E27FC236}">
                <a16:creationId xmlns:a16="http://schemas.microsoft.com/office/drawing/2014/main" id="{C0741D31-888B-A9C3-797A-66AA6BDEE644}"/>
              </a:ext>
            </a:extLst>
          </p:cNvPr>
          <p:cNvSpPr txBox="1"/>
          <p:nvPr/>
        </p:nvSpPr>
        <p:spPr>
          <a:xfrm>
            <a:off x="372113" y="2714037"/>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Clic derecho sobre: </a:t>
            </a:r>
            <a:r>
              <a:rPr lang="es-ES" sz="1600" dirty="0">
                <a:solidFill>
                  <a:schemeClr val="tx2"/>
                </a:solidFill>
                <a:latin typeface="Fira Sans Condensed Light" panose="020B0604020202020204" charset="0"/>
                <a:cs typeface="Times New Roman" panose="02020603050405020304" pitchFamily="18" charset="0"/>
              </a:rPr>
              <a:t>“IDLE (Python 3.11 64 bits)”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6" name="Google Shape;1603;p42">
            <a:extLst>
              <a:ext uri="{FF2B5EF4-FFF2-40B4-BE49-F238E27FC236}">
                <a16:creationId xmlns:a16="http://schemas.microsoft.com/office/drawing/2014/main" id="{65864CF3-24A8-C1B3-5FB2-0AD793DD754B}"/>
              </a:ext>
            </a:extLst>
          </p:cNvPr>
          <p:cNvSpPr txBox="1"/>
          <p:nvPr/>
        </p:nvSpPr>
        <p:spPr>
          <a:xfrm>
            <a:off x="365703" y="357296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Selecciono: </a:t>
            </a:r>
            <a:r>
              <a:rPr lang="es-ES" sz="1600" dirty="0">
                <a:solidFill>
                  <a:schemeClr val="tx2"/>
                </a:solidFill>
                <a:latin typeface="Fira Sans Condensed Light" panose="020B0604020202020204" charset="0"/>
                <a:cs typeface="Times New Roman" panose="02020603050405020304" pitchFamily="18" charset="0"/>
              </a:rPr>
              <a:t>“abrir ubicación del archivo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Conector recto de flecha 7">
            <a:extLst>
              <a:ext uri="{FF2B5EF4-FFF2-40B4-BE49-F238E27FC236}">
                <a16:creationId xmlns:a16="http://schemas.microsoft.com/office/drawing/2014/main" id="{9490963A-1C52-2574-221E-78607A659D3D}"/>
              </a:ext>
            </a:extLst>
          </p:cNvPr>
          <p:cNvCxnSpPr>
            <a:cxnSpLocks/>
          </p:cNvCxnSpPr>
          <p:nvPr/>
        </p:nvCxnSpPr>
        <p:spPr>
          <a:xfrm>
            <a:off x="4255475" y="4921875"/>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B687A8EF-AD82-D8D3-ADFB-44C258AAB125}"/>
              </a:ext>
            </a:extLst>
          </p:cNvPr>
          <p:cNvCxnSpPr>
            <a:cxnSpLocks/>
          </p:cNvCxnSpPr>
          <p:nvPr/>
        </p:nvCxnSpPr>
        <p:spPr>
          <a:xfrm>
            <a:off x="4255475" y="2471752"/>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B86A49C3-586A-8C42-20F6-427CD01B6CFE}"/>
              </a:ext>
            </a:extLst>
          </p:cNvPr>
          <p:cNvCxnSpPr>
            <a:cxnSpLocks/>
          </p:cNvCxnSpPr>
          <p:nvPr/>
        </p:nvCxnSpPr>
        <p:spPr>
          <a:xfrm flipH="1">
            <a:off x="7045570" y="2784375"/>
            <a:ext cx="41030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533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Clic derecho sobre: </a:t>
            </a:r>
            <a:r>
              <a:rPr lang="es-ES" sz="1600" dirty="0">
                <a:solidFill>
                  <a:schemeClr val="tx2"/>
                </a:solidFill>
                <a:latin typeface="Fira Sans Condensed Light" panose="020B0604020202020204" charset="0"/>
                <a:cs typeface="Times New Roman" panose="02020603050405020304" pitchFamily="18" charset="0"/>
              </a:rPr>
              <a:t>“IDLE (Python 3.11 64 bits)”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3" name="Imagen 12">
            <a:extLst>
              <a:ext uri="{FF2B5EF4-FFF2-40B4-BE49-F238E27FC236}">
                <a16:creationId xmlns:a16="http://schemas.microsoft.com/office/drawing/2014/main" id="{4D6AF19E-0FD3-830A-8000-AAADED755B4A}"/>
              </a:ext>
            </a:extLst>
          </p:cNvPr>
          <p:cNvPicPr>
            <a:picLocks noChangeAspect="1"/>
          </p:cNvPicPr>
          <p:nvPr/>
        </p:nvPicPr>
        <p:blipFill rotWithShape="1">
          <a:blip r:embed="rId4"/>
          <a:srcRect l="14794"/>
          <a:stretch/>
        </p:blipFill>
        <p:spPr>
          <a:xfrm>
            <a:off x="4109429" y="1697230"/>
            <a:ext cx="4826922" cy="3335912"/>
          </a:xfrm>
          <a:prstGeom prst="rect">
            <a:avLst/>
          </a:prstGeom>
        </p:spPr>
      </p:pic>
      <p:sp>
        <p:nvSpPr>
          <p:cNvPr id="14" name="Google Shape;1603;p42">
            <a:extLst>
              <a:ext uri="{FF2B5EF4-FFF2-40B4-BE49-F238E27FC236}">
                <a16:creationId xmlns:a16="http://schemas.microsoft.com/office/drawing/2014/main" id="{1881D1A7-1A3B-0E01-FE29-63EAD9F054F9}"/>
              </a:ext>
            </a:extLst>
          </p:cNvPr>
          <p:cNvSpPr txBox="1"/>
          <p:nvPr/>
        </p:nvSpPr>
        <p:spPr>
          <a:xfrm>
            <a:off x="372113" y="3066028"/>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11. Selecciono: </a:t>
            </a:r>
            <a:r>
              <a:rPr lang="es-ES" sz="1600" dirty="0">
                <a:solidFill>
                  <a:schemeClr val="tx2"/>
                </a:solidFill>
                <a:latin typeface="Fira Sans Condensed Light" panose="020B0604020202020204" charset="0"/>
                <a:cs typeface="Times New Roman" panose="02020603050405020304" pitchFamily="18" charset="0"/>
              </a:rPr>
              <a:t>“Propiedades”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71274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12. Selecciono: </a:t>
            </a:r>
            <a:r>
              <a:rPr lang="es-ES" sz="1600" dirty="0">
                <a:solidFill>
                  <a:schemeClr val="tx2"/>
                </a:solidFill>
                <a:latin typeface="Fira Sans Condensed Light" panose="020B0604020202020204" charset="0"/>
                <a:cs typeface="Times New Roman" panose="02020603050405020304" pitchFamily="18" charset="0"/>
              </a:rPr>
              <a:t>“Abrir ubicación”</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10472C46-7683-A26D-ADEF-45819037F2ED}"/>
              </a:ext>
            </a:extLst>
          </p:cNvPr>
          <p:cNvPicPr>
            <a:picLocks noChangeAspect="1"/>
          </p:cNvPicPr>
          <p:nvPr/>
        </p:nvPicPr>
        <p:blipFill>
          <a:blip r:embed="rId4"/>
          <a:stretch>
            <a:fillRect/>
          </a:stretch>
        </p:blipFill>
        <p:spPr>
          <a:xfrm>
            <a:off x="4925800" y="1041785"/>
            <a:ext cx="2622183" cy="4074136"/>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a:off x="5222437" y="3690952"/>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13. Selecciono: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a:off x="4413738" y="1721476"/>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10416D4B-F3DB-0416-6A3E-F7C861FCC301}"/>
              </a:ext>
            </a:extLst>
          </p:cNvPr>
          <p:cNvPicPr>
            <a:picLocks noChangeAspect="1"/>
          </p:cNvPicPr>
          <p:nvPr/>
        </p:nvPicPr>
        <p:blipFill rotWithShape="1">
          <a:blip r:embed="rId4"/>
          <a:srcRect l="9488" t="12142" r="40419" b="8103"/>
          <a:stretch/>
        </p:blipFill>
        <p:spPr>
          <a:xfrm>
            <a:off x="4747846" y="1595219"/>
            <a:ext cx="3840733" cy="3437923"/>
          </a:xfrm>
          <a:prstGeom prst="rect">
            <a:avLst/>
          </a:prstGeom>
        </p:spPr>
      </p:pic>
      <p:sp>
        <p:nvSpPr>
          <p:cNvPr id="10" name="Google Shape;1603;p42">
            <a:extLst>
              <a:ext uri="{FF2B5EF4-FFF2-40B4-BE49-F238E27FC236}">
                <a16:creationId xmlns:a16="http://schemas.microsoft.com/office/drawing/2014/main" id="{21FCE5E7-5CEC-B720-8FF5-32D3A6024B49}"/>
              </a:ext>
            </a:extLst>
          </p:cNvPr>
          <p:cNvSpPr txBox="1"/>
          <p:nvPr/>
        </p:nvSpPr>
        <p:spPr>
          <a:xfrm>
            <a:off x="372113" y="286002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14.  Clic derecho y copio: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266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15. Ingreso el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path</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como una nueva variable del entorno en : </a:t>
            </a:r>
            <a:r>
              <a:rPr lang="es-ES" sz="1600" dirty="0">
                <a:solidFill>
                  <a:schemeClr val="tx2"/>
                </a:solidFill>
                <a:latin typeface="Fira Sans Condensed Light" panose="020B0604020202020204" charset="0"/>
                <a:cs typeface="Times New Roman" panose="02020603050405020304" pitchFamily="18" charset="0"/>
              </a:rPr>
              <a:t>“nuevo” y “aceptar”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Imagen 1">
            <a:extLst>
              <a:ext uri="{FF2B5EF4-FFF2-40B4-BE49-F238E27FC236}">
                <a16:creationId xmlns:a16="http://schemas.microsoft.com/office/drawing/2014/main" id="{DD53BC0A-926C-A9C8-A73B-0A1C3FD9B39C}"/>
              </a:ext>
            </a:extLst>
          </p:cNvPr>
          <p:cNvPicPr>
            <a:picLocks noChangeAspect="1"/>
          </p:cNvPicPr>
          <p:nvPr/>
        </p:nvPicPr>
        <p:blipFill rotWithShape="1">
          <a:blip r:embed="rId4"/>
          <a:srcRect l="30530" t="12857" r="30567" b="20669"/>
          <a:stretch/>
        </p:blipFill>
        <p:spPr>
          <a:xfrm>
            <a:off x="4572000" y="1234922"/>
            <a:ext cx="3918849" cy="3764789"/>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flipH="1">
            <a:off x="8276492" y="1758462"/>
            <a:ext cx="3985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531424" y="4794739"/>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1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16. Selecciono la carpeta: </a:t>
            </a:r>
            <a:r>
              <a:rPr lang="es-ES" sz="1600" dirty="0">
                <a:solidFill>
                  <a:schemeClr val="tx2"/>
                </a:solidFill>
                <a:latin typeface="Fira Sans Condensed Light" panose="020B0604020202020204" charset="0"/>
                <a:cs typeface="Times New Roman" panose="02020603050405020304" pitchFamily="18" charset="0"/>
              </a:rPr>
              <a:t>“scripts”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Imagen 4">
            <a:extLst>
              <a:ext uri="{FF2B5EF4-FFF2-40B4-BE49-F238E27FC236}">
                <a16:creationId xmlns:a16="http://schemas.microsoft.com/office/drawing/2014/main" id="{0F805BA1-9C8C-06E4-4338-20DEDCEBDE24}"/>
              </a:ext>
            </a:extLst>
          </p:cNvPr>
          <p:cNvPicPr>
            <a:picLocks noChangeAspect="1"/>
          </p:cNvPicPr>
          <p:nvPr/>
        </p:nvPicPr>
        <p:blipFill rotWithShape="1">
          <a:blip r:embed="rId4"/>
          <a:srcRect l="11317" t="12857" r="41410" b="39107"/>
          <a:stretch/>
        </p:blipFill>
        <p:spPr>
          <a:xfrm>
            <a:off x="3993443" y="1705577"/>
            <a:ext cx="4858455" cy="2775691"/>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3666149" y="3516924"/>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28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211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17. Selecciono el: </a:t>
            </a:r>
            <a:r>
              <a:rPr lang="es-ES" sz="1600" dirty="0">
                <a:solidFill>
                  <a:schemeClr val="tx2"/>
                </a:solidFill>
                <a:latin typeface="Fira Sans Condensed Light" panose="020B0604020202020204" charset="0"/>
                <a:cs typeface="Times New Roman" panose="02020603050405020304" pitchFamily="18" charset="0"/>
              </a:rPr>
              <a:t>“</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CF3D096F-DE09-76F2-DCFA-2A54BFBFCF6C}"/>
              </a:ext>
            </a:extLst>
          </p:cNvPr>
          <p:cNvPicPr>
            <a:picLocks noChangeAspect="1"/>
          </p:cNvPicPr>
          <p:nvPr/>
        </p:nvPicPr>
        <p:blipFill>
          <a:blip r:embed="rId4"/>
          <a:stretch>
            <a:fillRect/>
          </a:stretch>
        </p:blipFill>
        <p:spPr>
          <a:xfrm>
            <a:off x="4620145" y="1521144"/>
            <a:ext cx="4282178" cy="3519773"/>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033052" y="2082423"/>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1603;p42">
            <a:extLst>
              <a:ext uri="{FF2B5EF4-FFF2-40B4-BE49-F238E27FC236}">
                <a16:creationId xmlns:a16="http://schemas.microsoft.com/office/drawing/2014/main" id="{65D863A2-56FE-87CF-B0AA-2B56B05BA300}"/>
              </a:ext>
            </a:extLst>
          </p:cNvPr>
          <p:cNvSpPr txBox="1"/>
          <p:nvPr/>
        </p:nvSpPr>
        <p:spPr>
          <a:xfrm>
            <a:off x="378523" y="282687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18. Clic derecho y copio: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45699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19. Ingreso el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path</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como una nueva variable del entorno en : </a:t>
            </a:r>
            <a:r>
              <a:rPr lang="es-ES" sz="1600" dirty="0">
                <a:solidFill>
                  <a:schemeClr val="tx2"/>
                </a:solidFill>
                <a:latin typeface="Fira Sans Condensed Light" panose="020B0604020202020204" charset="0"/>
                <a:cs typeface="Times New Roman" panose="02020603050405020304" pitchFamily="18" charset="0"/>
              </a:rPr>
              <a:t>“nuevo” y “aceptar”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Imagen 1">
            <a:extLst>
              <a:ext uri="{FF2B5EF4-FFF2-40B4-BE49-F238E27FC236}">
                <a16:creationId xmlns:a16="http://schemas.microsoft.com/office/drawing/2014/main" id="{DD53BC0A-926C-A9C8-A73B-0A1C3FD9B39C}"/>
              </a:ext>
            </a:extLst>
          </p:cNvPr>
          <p:cNvPicPr>
            <a:picLocks noChangeAspect="1"/>
          </p:cNvPicPr>
          <p:nvPr/>
        </p:nvPicPr>
        <p:blipFill rotWithShape="1">
          <a:blip r:embed="rId4"/>
          <a:srcRect l="30530" t="12857" r="30567" b="20669"/>
          <a:stretch/>
        </p:blipFill>
        <p:spPr>
          <a:xfrm>
            <a:off x="4572000" y="1234922"/>
            <a:ext cx="3918849" cy="3764789"/>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flipH="1">
            <a:off x="8276492" y="1758462"/>
            <a:ext cx="3985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531424" y="4794739"/>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56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75935" y="2400891"/>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Descargar e instalar Git Local</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Desde Visual Studio Code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descr="flutter - Why do I need to download Git, if it is built into VS Code? -  Stack Overflow">
            <a:extLst>
              <a:ext uri="{FF2B5EF4-FFF2-40B4-BE49-F238E27FC236}">
                <a16:creationId xmlns:a16="http://schemas.microsoft.com/office/drawing/2014/main" id="{929B2525-07BF-69BC-EE9C-3BA60FC4E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3509" y="918764"/>
            <a:ext cx="2432505" cy="257239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ithub - Already installed Git but VSCode keeps suggesting to download it  in Mac - Stack Overflow">
            <a:extLst>
              <a:ext uri="{FF2B5EF4-FFF2-40B4-BE49-F238E27FC236}">
                <a16:creationId xmlns:a16="http://schemas.microsoft.com/office/drawing/2014/main" id="{8537B4B7-0FE0-DCC2-5BD8-A8C6DF3D6B3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45" r="32189"/>
          <a:stretch/>
        </p:blipFill>
        <p:spPr bwMode="auto">
          <a:xfrm>
            <a:off x="6711495" y="2337622"/>
            <a:ext cx="2432505" cy="2805878"/>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603;p42">
            <a:extLst>
              <a:ext uri="{FF2B5EF4-FFF2-40B4-BE49-F238E27FC236}">
                <a16:creationId xmlns:a16="http://schemas.microsoft.com/office/drawing/2014/main" id="{2064D724-90B9-C0A8-5A86-B8218A8D8ADE}"/>
              </a:ext>
            </a:extLst>
          </p:cNvPr>
          <p:cNvSpPr txBox="1"/>
          <p:nvPr/>
        </p:nvSpPr>
        <p:spPr>
          <a:xfrm>
            <a:off x="575935" y="3657045"/>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Clonar el “Repositorio Remoto de Prueba”</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Github</a:t>
            </a:r>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0272822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76913" y="3048000"/>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D8C85D11-44A0-3719-F941-CB9EE3F02FD0}"/>
              </a:ext>
            </a:extLst>
          </p:cNvPr>
          <p:cNvPicPr>
            <a:picLocks noChangeAspect="1"/>
          </p:cNvPicPr>
          <p:nvPr/>
        </p:nvPicPr>
        <p:blipFill rotWithShape="1">
          <a:blip r:embed="rId4"/>
          <a:srcRect r="41282" b="60119"/>
          <a:stretch/>
        </p:blipFill>
        <p:spPr>
          <a:xfrm>
            <a:off x="1242717" y="2106344"/>
            <a:ext cx="6658565" cy="2542652"/>
          </a:xfrm>
          <a:prstGeom prst="rect">
            <a:avLst/>
          </a:prstGeom>
        </p:spPr>
      </p:pic>
    </p:spTree>
    <p:extLst>
      <p:ext uri="{BB962C8B-B14F-4D97-AF65-F5344CB8AC3E}">
        <p14:creationId xmlns:p14="http://schemas.microsoft.com/office/powerpoint/2010/main" val="3203157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 name="Imagen 9">
            <a:extLst>
              <a:ext uri="{FF2B5EF4-FFF2-40B4-BE49-F238E27FC236}">
                <a16:creationId xmlns:a16="http://schemas.microsoft.com/office/drawing/2014/main" id="{3CA1A01A-2AF4-2DD7-7794-B77575F80B4D}"/>
              </a:ext>
            </a:extLst>
          </p:cNvPr>
          <p:cNvPicPr>
            <a:picLocks noChangeAspect="1"/>
          </p:cNvPicPr>
          <p:nvPr/>
        </p:nvPicPr>
        <p:blipFill>
          <a:blip r:embed="rId4"/>
          <a:stretch>
            <a:fillRect/>
          </a:stretch>
        </p:blipFill>
        <p:spPr>
          <a:xfrm>
            <a:off x="2965939" y="1742337"/>
            <a:ext cx="4200734" cy="3401163"/>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2965939" y="3094892"/>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9582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descr="Git, GitHub y Markdown">
            <a:extLst>
              <a:ext uri="{FF2B5EF4-FFF2-40B4-BE49-F238E27FC236}">
                <a16:creationId xmlns:a16="http://schemas.microsoft.com/office/drawing/2014/main" id="{F30CA9C1-6AFC-4B0C-5790-EE376A0EEF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904" y="1188682"/>
            <a:ext cx="6789072" cy="36467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5" name="Imagen 4" descr="Interfaz de usuario gráfica, Aplicación&#10;&#10;Descripción generada automáticamente">
            <a:extLst>
              <a:ext uri="{FF2B5EF4-FFF2-40B4-BE49-F238E27FC236}">
                <a16:creationId xmlns:a16="http://schemas.microsoft.com/office/drawing/2014/main" id="{E11E9D30-1E49-1E7A-A26B-C816E6F8D639}"/>
              </a:ext>
            </a:extLst>
          </p:cNvPr>
          <p:cNvPicPr>
            <a:picLocks noChangeAspect="1"/>
          </p:cNvPicPr>
          <p:nvPr/>
        </p:nvPicPr>
        <p:blipFill rotWithShape="1">
          <a:blip r:embed="rId4"/>
          <a:srcRect l="3480" t="1" r="9614" b="33182"/>
          <a:stretch/>
        </p:blipFill>
        <p:spPr>
          <a:xfrm>
            <a:off x="834152" y="1189258"/>
            <a:ext cx="7475696" cy="3726464"/>
          </a:xfrm>
          <a:prstGeom prst="rect">
            <a:avLst/>
          </a:prstGeom>
        </p:spPr>
      </p:pic>
    </p:spTree>
    <p:extLst>
      <p:ext uri="{BB962C8B-B14F-4D97-AF65-F5344CB8AC3E}">
        <p14:creationId xmlns:p14="http://schemas.microsoft.com/office/powerpoint/2010/main" val="2228767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Imagen 2" descr="Interfaz de usuario gráfica&#10;&#10;Descripción generada automáticamente">
            <a:extLst>
              <a:ext uri="{FF2B5EF4-FFF2-40B4-BE49-F238E27FC236}">
                <a16:creationId xmlns:a16="http://schemas.microsoft.com/office/drawing/2014/main" id="{26231A7B-6DE3-36BB-BE15-4394A354C283}"/>
              </a:ext>
            </a:extLst>
          </p:cNvPr>
          <p:cNvPicPr>
            <a:picLocks noChangeAspect="1"/>
          </p:cNvPicPr>
          <p:nvPr/>
        </p:nvPicPr>
        <p:blipFill rotWithShape="1">
          <a:blip r:embed="rId4"/>
          <a:srcRect b="22963"/>
          <a:stretch/>
        </p:blipFill>
        <p:spPr>
          <a:xfrm>
            <a:off x="1166320" y="1189258"/>
            <a:ext cx="7168084" cy="3681386"/>
          </a:xfrm>
          <a:prstGeom prst="rect">
            <a:avLst/>
          </a:prstGeom>
        </p:spPr>
      </p:pic>
    </p:spTree>
    <p:extLst>
      <p:ext uri="{BB962C8B-B14F-4D97-AF65-F5344CB8AC3E}">
        <p14:creationId xmlns:p14="http://schemas.microsoft.com/office/powerpoint/2010/main" val="2174154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5975" y="11249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r="29722" b="54862"/>
          <a:stretch>
            <a:fillRect/>
          </a:stretch>
        </p:blipFill>
        <p:spPr bwMode="auto">
          <a:xfrm>
            <a:off x="792119" y="2144537"/>
            <a:ext cx="7489734" cy="2690364"/>
          </a:xfrm>
          <a:prstGeom prst="rect">
            <a:avLst/>
          </a:prstGeom>
          <a:noFill/>
          <a:ln w="9525">
            <a:noFill/>
            <a:miter lim="800000"/>
            <a:headEnd/>
            <a:tailEnd/>
          </a:ln>
          <a:effectLst/>
        </p:spPr>
      </p:pic>
      <p:sp>
        <p:nvSpPr>
          <p:cNvPr id="1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2348142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1122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1855" t="17535" r="28258" b="22396"/>
          <a:stretch>
            <a:fillRect/>
          </a:stretch>
        </p:blipFill>
        <p:spPr bwMode="auto">
          <a:xfrm>
            <a:off x="1772193" y="2114483"/>
            <a:ext cx="5792081" cy="2798966"/>
          </a:xfrm>
          <a:prstGeom prst="rect">
            <a:avLst/>
          </a:prstGeom>
          <a:noFill/>
          <a:ln w="9525">
            <a:noFill/>
            <a:miter lim="800000"/>
            <a:headEnd/>
            <a:tailEnd/>
          </a:ln>
          <a:effectLst/>
        </p:spPr>
      </p:pic>
      <p:cxnSp>
        <p:nvCxnSpPr>
          <p:cNvPr id="10" name="9 Conector recto de flecha"/>
          <p:cNvCxnSpPr/>
          <p:nvPr/>
        </p:nvCxnSpPr>
        <p:spPr>
          <a:xfrm rot="10800000" flipV="1">
            <a:off x="6988991" y="3046548"/>
            <a:ext cx="1651000" cy="711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7064" y="1089772"/>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Presiona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Enter y se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abrir</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á el explorador de archivos y selecciona la carpeta destino del clon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p:cNvPicPr>
            <a:picLocks noChangeAspect="1" noChangeArrowheads="1"/>
          </p:cNvPicPr>
          <p:nvPr/>
        </p:nvPicPr>
        <p:blipFill>
          <a:blip r:embed="rId4"/>
          <a:srcRect r="50317" b="37847"/>
          <a:stretch>
            <a:fillRect/>
          </a:stretch>
        </p:blipFill>
        <p:spPr bwMode="auto">
          <a:xfrm>
            <a:off x="2283459" y="2070749"/>
            <a:ext cx="4368801" cy="3072751"/>
          </a:xfrm>
          <a:prstGeom prst="rect">
            <a:avLst/>
          </a:prstGeom>
          <a:noFill/>
          <a:ln w="9525">
            <a:noFill/>
            <a:miter lim="800000"/>
            <a:headEnd/>
            <a:tailEnd/>
          </a:ln>
          <a:effectLst/>
        </p:spPr>
      </p:pic>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Seleccionar  la opción abrir el repositorio clonado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Deben aparecer todos los archivos del repositorio clonado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r="10786" b="51071"/>
          <a:stretch>
            <a:fillRect/>
          </a:stretch>
        </p:blipFill>
        <p:spPr bwMode="auto">
          <a:xfrm>
            <a:off x="205740" y="2107837"/>
            <a:ext cx="8662186" cy="2633980"/>
          </a:xfrm>
          <a:prstGeom prst="rect">
            <a:avLst/>
          </a:prstGeom>
          <a:noFill/>
          <a:ln w="9525">
            <a:noFill/>
            <a:miter lim="800000"/>
            <a:headEnd/>
            <a:tailEnd/>
          </a:ln>
          <a:effectLst/>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Nombre del archivo: 1_Extracción_de_datos.ipynb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122" name="Picture 2"/>
          <p:cNvPicPr>
            <a:picLocks noChangeAspect="1" noChangeArrowheads="1"/>
          </p:cNvPicPr>
          <p:nvPr/>
        </p:nvPicPr>
        <p:blipFill>
          <a:blip r:embed="rId4"/>
          <a:srcRect b="48305"/>
          <a:stretch>
            <a:fillRect/>
          </a:stretch>
        </p:blipFill>
        <p:spPr bwMode="auto">
          <a:xfrm>
            <a:off x="-1" y="2070100"/>
            <a:ext cx="9147579" cy="2658654"/>
          </a:xfrm>
          <a:prstGeom prst="rect">
            <a:avLst/>
          </a:prstGeom>
          <a:noFill/>
          <a:ln w="9525">
            <a:noFill/>
            <a:miter lim="800000"/>
            <a:headEnd/>
            <a:tailEnd/>
          </a:ln>
          <a:effectLst/>
        </p:spPr>
      </p:pic>
      <p:cxnSp>
        <p:nvCxnSpPr>
          <p:cNvPr id="8" name="7 Conector recto de flecha"/>
          <p:cNvCxnSpPr/>
          <p:nvPr/>
        </p:nvCxnSpPr>
        <p:spPr>
          <a:xfrm rot="10800000">
            <a:off x="2070100" y="32512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 que en tu carpeta del proyecto ya se haya creado el archivo: 1_Extracción_de_datos.ipynb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6146" name="Picture 2"/>
          <p:cNvPicPr>
            <a:picLocks noChangeAspect="1" noChangeArrowheads="1"/>
          </p:cNvPicPr>
          <p:nvPr/>
        </p:nvPicPr>
        <p:blipFill>
          <a:blip r:embed="rId4"/>
          <a:srcRect t="11111" r="16642" b="44905"/>
          <a:stretch>
            <a:fillRect/>
          </a:stretch>
        </p:blipFill>
        <p:spPr bwMode="auto">
          <a:xfrm>
            <a:off x="228600" y="2129391"/>
            <a:ext cx="8674100" cy="2573238"/>
          </a:xfrm>
          <a:prstGeom prst="rect">
            <a:avLst/>
          </a:prstGeom>
          <a:noFill/>
          <a:ln w="9525">
            <a:noFill/>
            <a:miter lim="800000"/>
            <a:headEnd/>
            <a:tailEnd/>
          </a:ln>
          <a:effectLst/>
        </p:spPr>
      </p:pic>
      <p:cxnSp>
        <p:nvCxnSpPr>
          <p:cNvPr id="8" name="7 Conector recto de flecha"/>
          <p:cNvCxnSpPr/>
          <p:nvPr/>
        </p:nvCxnSpPr>
        <p:spPr>
          <a:xfrm rot="10800000">
            <a:off x="2997200" y="36068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Editar nuestro archivo </a:t>
            </a:r>
          </a:p>
          <a:p>
            <a:pPr algn="just"/>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Despues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editar el archivo, verificar que tenemos una tarea pendiente en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170" name="Picture 2"/>
          <p:cNvPicPr>
            <a:picLocks noChangeAspect="1" noChangeArrowheads="1"/>
          </p:cNvPicPr>
          <p:nvPr/>
        </p:nvPicPr>
        <p:blipFill>
          <a:blip r:embed="rId4"/>
          <a:srcRect r="26687" b="56150"/>
          <a:stretch>
            <a:fillRect/>
          </a:stretch>
        </p:blipFill>
        <p:spPr bwMode="auto">
          <a:xfrm>
            <a:off x="658385" y="2106230"/>
            <a:ext cx="7876310" cy="2648650"/>
          </a:xfrm>
          <a:prstGeom prst="rect">
            <a:avLst/>
          </a:prstGeom>
          <a:noFill/>
          <a:ln w="9525">
            <a:noFill/>
            <a:miter lim="800000"/>
            <a:headEnd/>
            <a:tailEnd/>
          </a:ln>
          <a:effectLst/>
        </p:spPr>
      </p:pic>
      <p:cxnSp>
        <p:nvCxnSpPr>
          <p:cNvPr id="8" name="7 Conector recto de flecha"/>
          <p:cNvCxnSpPr/>
          <p:nvPr/>
        </p:nvCxnSpPr>
        <p:spPr>
          <a:xfrm rot="10800000">
            <a:off x="930171" y="3212289"/>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Realizo mi primer COMMIT</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Edito los comentarios para los cambios realizados,  oprimo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Commit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selecciono “si” en la ventana emergente.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8194" name="Picture 2"/>
          <p:cNvPicPr>
            <a:picLocks noChangeAspect="1" noChangeArrowheads="1"/>
          </p:cNvPicPr>
          <p:nvPr/>
        </p:nvPicPr>
        <p:blipFill>
          <a:blip r:embed="rId4"/>
          <a:srcRect r="4821" b="52665"/>
          <a:stretch>
            <a:fillRect/>
          </a:stretch>
        </p:blipFill>
        <p:spPr bwMode="auto">
          <a:xfrm>
            <a:off x="497540" y="2448268"/>
            <a:ext cx="8202707" cy="2293549"/>
          </a:xfrm>
          <a:prstGeom prst="rect">
            <a:avLst/>
          </a:prstGeom>
          <a:noFill/>
          <a:ln w="9525">
            <a:noFill/>
            <a:miter lim="800000"/>
            <a:headEnd/>
            <a:tailEnd/>
          </a:ln>
          <a:effectLst/>
        </p:spPr>
      </p:pic>
      <p:cxnSp>
        <p:nvCxnSpPr>
          <p:cNvPr id="8" name="7 Conector recto de flecha"/>
          <p:cNvCxnSpPr/>
          <p:nvPr/>
        </p:nvCxnSpPr>
        <p:spPr>
          <a:xfrm rot="10800000">
            <a:off x="2324847" y="3122705"/>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Enviar los cambios realizados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Push</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 la sección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selecciono los tres punto y elijo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push</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218" name="Picture 2"/>
          <p:cNvPicPr>
            <a:picLocks noChangeAspect="1" noChangeArrowheads="1"/>
          </p:cNvPicPr>
          <p:nvPr/>
        </p:nvPicPr>
        <p:blipFill>
          <a:blip r:embed="rId4"/>
          <a:srcRect r="4878" b="43578"/>
          <a:stretch>
            <a:fillRect/>
          </a:stretch>
        </p:blipFill>
        <p:spPr bwMode="auto">
          <a:xfrm>
            <a:off x="643091" y="2222081"/>
            <a:ext cx="7908322" cy="2637302"/>
          </a:xfrm>
          <a:prstGeom prst="rect">
            <a:avLst/>
          </a:prstGeom>
          <a:noFill/>
          <a:ln w="9525">
            <a:noFill/>
            <a:miter lim="800000"/>
            <a:headEnd/>
            <a:tailEnd/>
          </a:ln>
          <a:effectLst/>
        </p:spPr>
      </p:pic>
      <p:cxnSp>
        <p:nvCxnSpPr>
          <p:cNvPr id="8" name="7 Conector recto de flecha"/>
          <p:cNvCxnSpPr/>
          <p:nvPr/>
        </p:nvCxnSpPr>
        <p:spPr>
          <a:xfrm rot="10800000">
            <a:off x="2831742" y="3142583"/>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Verifica que el archivo se cargo correctamente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42" name="Picture 2"/>
          <p:cNvPicPr>
            <a:picLocks noChangeAspect="1" noChangeArrowheads="1"/>
          </p:cNvPicPr>
          <p:nvPr/>
        </p:nvPicPr>
        <p:blipFill>
          <a:blip r:embed="rId4"/>
          <a:srcRect t="11454" r="12265" b="33705"/>
          <a:stretch>
            <a:fillRect/>
          </a:stretch>
        </p:blipFill>
        <p:spPr bwMode="auto">
          <a:xfrm>
            <a:off x="708387" y="2024742"/>
            <a:ext cx="7808597" cy="2744243"/>
          </a:xfrm>
          <a:prstGeom prst="rect">
            <a:avLst/>
          </a:prstGeom>
          <a:noFill/>
          <a:ln w="9525">
            <a:noFill/>
            <a:miter lim="800000"/>
            <a:headEnd/>
            <a:tailEnd/>
          </a:ln>
          <a:effectLst/>
        </p:spPr>
      </p:pic>
      <p:cxnSp>
        <p:nvCxnSpPr>
          <p:cNvPr id="8" name="7 Conector recto de flecha"/>
          <p:cNvCxnSpPr/>
          <p:nvPr/>
        </p:nvCxnSpPr>
        <p:spPr>
          <a:xfrm rot="10800000" flipV="1">
            <a:off x="2648862" y="3683726"/>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Modificar </a:t>
            </a:r>
            <a:r>
              <a:rPr lang="es-ES" sz="1600" b="1">
                <a:solidFill>
                  <a:schemeClr val="bg1">
                    <a:lumMod val="60000"/>
                    <a:lumOff val="40000"/>
                  </a:schemeClr>
                </a:solidFill>
                <a:latin typeface="Fira Sans Condensed Light" panose="020B0604020202020204" charset="0"/>
                <a:cs typeface="Times New Roman" panose="02020603050405020304" pitchFamily="18" charset="0"/>
              </a:rPr>
              <a:t>o crear archivo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desde GitHub</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Archivo: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MiClaseAnalítica</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1266" name="Picture 2"/>
          <p:cNvPicPr>
            <a:picLocks noChangeAspect="1" noChangeArrowheads="1"/>
          </p:cNvPicPr>
          <p:nvPr/>
        </p:nvPicPr>
        <p:blipFill>
          <a:blip r:embed="rId4"/>
          <a:srcRect t="25694" r="10181" b="19676"/>
          <a:stretch>
            <a:fillRect/>
          </a:stretch>
        </p:blipFill>
        <p:spPr bwMode="auto">
          <a:xfrm>
            <a:off x="573315" y="2037805"/>
            <a:ext cx="7897918" cy="2700746"/>
          </a:xfrm>
          <a:prstGeom prst="rect">
            <a:avLst/>
          </a:prstGeom>
          <a:noFill/>
          <a:ln w="9525">
            <a:noFill/>
            <a:miter lim="800000"/>
            <a:headEnd/>
            <a:tailEnd/>
          </a:ln>
          <a:effectLst/>
        </p:spPr>
      </p:pic>
      <p:cxnSp>
        <p:nvCxnSpPr>
          <p:cNvPr id="8" name="7 Conector recto de flecha"/>
          <p:cNvCxnSpPr/>
          <p:nvPr/>
        </p:nvCxnSpPr>
        <p:spPr>
          <a:xfrm rot="10800000" flipV="1">
            <a:off x="2191662" y="3618412"/>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Sincronizar en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Oprimir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botón</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sincronizar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cambios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2290" name="Picture 2"/>
          <p:cNvPicPr>
            <a:picLocks noChangeAspect="1" noChangeArrowheads="1"/>
          </p:cNvPicPr>
          <p:nvPr/>
        </p:nvPicPr>
        <p:blipFill>
          <a:blip r:embed="rId4"/>
          <a:srcRect t="49478" r="20175" b="6132"/>
          <a:stretch>
            <a:fillRect/>
          </a:stretch>
        </p:blipFill>
        <p:spPr bwMode="auto">
          <a:xfrm>
            <a:off x="332487" y="2116184"/>
            <a:ext cx="8471140" cy="2648494"/>
          </a:xfrm>
          <a:prstGeom prst="rect">
            <a:avLst/>
          </a:prstGeom>
          <a:noFill/>
          <a:ln w="9525">
            <a:noFill/>
            <a:miter lim="800000"/>
            <a:headEnd/>
            <a:tailEnd/>
          </a:ln>
          <a:effectLst/>
        </p:spPr>
      </p:pic>
      <p:cxnSp>
        <p:nvCxnSpPr>
          <p:cNvPr id="8" name="7 Conector recto de flecha"/>
          <p:cNvCxnSpPr/>
          <p:nvPr/>
        </p:nvCxnSpPr>
        <p:spPr>
          <a:xfrm rot="10800000" flipV="1">
            <a:off x="858512" y="3834571"/>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Repetir ciclo varias veces para confirmar el sincronizado</a:t>
            </a:r>
          </a:p>
        </p:txBody>
      </p:sp>
      <p:pic>
        <p:nvPicPr>
          <p:cNvPr id="13314" name="Picture 2"/>
          <p:cNvPicPr>
            <a:picLocks noChangeAspect="1" noChangeArrowheads="1"/>
          </p:cNvPicPr>
          <p:nvPr/>
        </p:nvPicPr>
        <p:blipFill>
          <a:blip r:embed="rId4"/>
          <a:srcRect t="27143" r="17072" b="17355"/>
          <a:stretch>
            <a:fillRect/>
          </a:stretch>
        </p:blipFill>
        <p:spPr bwMode="auto">
          <a:xfrm>
            <a:off x="794110" y="1933303"/>
            <a:ext cx="7324924" cy="2756263"/>
          </a:xfrm>
          <a:prstGeom prst="rect">
            <a:avLst/>
          </a:prstGeom>
          <a:noFill/>
          <a:ln w="9525">
            <a:noFill/>
            <a:miter lim="800000"/>
            <a:headEnd/>
            <a:tailEnd/>
          </a:ln>
          <a:effectLst/>
        </p:spPr>
      </p:pic>
      <p:cxnSp>
        <p:nvCxnSpPr>
          <p:cNvPr id="8" name="7 Conector recto de flecha"/>
          <p:cNvCxnSpPr/>
          <p:nvPr/>
        </p:nvCxnSpPr>
        <p:spPr>
          <a:xfrm rot="10800000" flipV="1">
            <a:off x="6384100" y="1940457"/>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eliminar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 la opción de ajuste</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t="4427" r="878" b="29147"/>
          <a:stretch>
            <a:fillRect/>
          </a:stretch>
        </p:blipFill>
        <p:spPr bwMode="auto">
          <a:xfrm>
            <a:off x="952500" y="1981200"/>
            <a:ext cx="7280824" cy="2743200"/>
          </a:xfrm>
          <a:prstGeom prst="rect">
            <a:avLst/>
          </a:prstGeom>
          <a:noFill/>
          <a:ln w="9525">
            <a:noFill/>
            <a:miter lim="800000"/>
            <a:headEnd/>
            <a:tailEnd/>
          </a:ln>
          <a:effectLst/>
        </p:spPr>
      </p:pic>
      <p:cxnSp>
        <p:nvCxnSpPr>
          <p:cNvPr id="8" name="7 Conector recto de flecha"/>
          <p:cNvCxnSpPr/>
          <p:nvPr/>
        </p:nvCxnSpPr>
        <p:spPr>
          <a:xfrm rot="10800000">
            <a:off x="4647006" y="3106568"/>
            <a:ext cx="1696644" cy="83678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En la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Danger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Zone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seleccionar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Delete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this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repository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5" name="Picture 3"/>
          <p:cNvPicPr>
            <a:picLocks noChangeAspect="1" noChangeArrowheads="1"/>
          </p:cNvPicPr>
          <p:nvPr/>
        </p:nvPicPr>
        <p:blipFill>
          <a:blip r:embed="rId4"/>
          <a:srcRect t="3906" r="1830" b="23177"/>
          <a:stretch>
            <a:fillRect/>
          </a:stretch>
        </p:blipFill>
        <p:spPr bwMode="auto">
          <a:xfrm>
            <a:off x="1419225" y="2000250"/>
            <a:ext cx="6477749" cy="2705100"/>
          </a:xfrm>
          <a:prstGeom prst="rect">
            <a:avLst/>
          </a:prstGeom>
          <a:noFill/>
          <a:ln w="9525">
            <a:noFill/>
            <a:miter lim="800000"/>
            <a:headEnd/>
            <a:tailEnd/>
          </a:ln>
          <a:effectLst/>
        </p:spPr>
      </p:pic>
      <p:cxnSp>
        <p:nvCxnSpPr>
          <p:cNvPr id="8" name="7 Conector recto de flecha"/>
          <p:cNvCxnSpPr/>
          <p:nvPr/>
        </p:nvCxnSpPr>
        <p:spPr>
          <a:xfrm>
            <a:off x="4495800" y="371475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Redacta el texto  solicitado para confirmar e ingresa tu contraseña </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t="9735" b="29688"/>
          <a:stretch>
            <a:fillRect/>
          </a:stretch>
        </p:blipFill>
        <p:spPr bwMode="auto">
          <a:xfrm>
            <a:off x="571499" y="2019300"/>
            <a:ext cx="7886701" cy="2686050"/>
          </a:xfrm>
          <a:prstGeom prst="rect">
            <a:avLst/>
          </a:prstGeom>
          <a:noFill/>
          <a:ln w="9525">
            <a:noFill/>
            <a:miter lim="800000"/>
            <a:headEnd/>
            <a:tailEnd/>
          </a:ln>
          <a:effectLst/>
        </p:spPr>
      </p:pic>
      <p:cxnSp>
        <p:nvCxnSpPr>
          <p:cNvPr id="8" name="7 Conector recto de flecha"/>
          <p:cNvCxnSpPr/>
          <p:nvPr/>
        </p:nvCxnSpPr>
        <p:spPr>
          <a:xfrm>
            <a:off x="1714500" y="323850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visualizar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al icono de cantidad de COMMITS</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p:cNvPicPr>
            <a:picLocks noChangeAspect="1" noChangeArrowheads="1"/>
          </p:cNvPicPr>
          <p:nvPr/>
        </p:nvPicPr>
        <p:blipFill>
          <a:blip r:embed="rId4"/>
          <a:srcRect t="4427" r="2928" b="19271"/>
          <a:stretch>
            <a:fillRect/>
          </a:stretch>
        </p:blipFill>
        <p:spPr bwMode="auto">
          <a:xfrm>
            <a:off x="1276350" y="1981200"/>
            <a:ext cx="6229350" cy="2752940"/>
          </a:xfrm>
          <a:prstGeom prst="rect">
            <a:avLst/>
          </a:prstGeom>
          <a:noFill/>
          <a:ln w="9525">
            <a:noFill/>
            <a:miter lim="800000"/>
            <a:headEnd/>
            <a:tailEnd/>
          </a:ln>
          <a:effectLst/>
        </p:spPr>
      </p:pic>
      <p:cxnSp>
        <p:nvCxnSpPr>
          <p:cNvPr id="8" name="7 Conector recto de flecha"/>
          <p:cNvCxnSpPr/>
          <p:nvPr/>
        </p:nvCxnSpPr>
        <p:spPr>
          <a:xfrm rot="10800000">
            <a:off x="5656656" y="3506618"/>
            <a:ext cx="2344344" cy="100823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https://itesm.zoom.us/my/alfredo.garcia</a:t>
            </a:r>
          </a:p>
          <a:p>
            <a:pPr marL="0" indent="0" algn="ctr">
              <a:buClr>
                <a:schemeClr val="dk1"/>
              </a:buClr>
              <a:buFont typeface="Arial"/>
              <a:buNone/>
            </a:pPr>
            <a:r>
              <a:rPr lang="es-ES"/>
              <a:t> </a:t>
            </a:r>
            <a:endParaRPr lang="es-ES" dirty="0"/>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10632</TotalTime>
  <Words>2509</Words>
  <Application>Microsoft Office PowerPoint</Application>
  <PresentationFormat>Presentación en pantalla (16:9)</PresentationFormat>
  <Paragraphs>499</Paragraphs>
  <Slides>63</Slides>
  <Notes>63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63</vt:i4>
      </vt:variant>
    </vt:vector>
  </HeadingPairs>
  <TitlesOfParts>
    <vt:vector size="69" baseType="lpstr">
      <vt:lpstr>Advent Pro Light</vt:lpstr>
      <vt:lpstr>Anton</vt:lpstr>
      <vt:lpstr>Arial</vt:lpstr>
      <vt:lpstr>Rajdhani</vt:lpstr>
      <vt:lpstr>Fira Sans Condensed Light</vt:lpstr>
      <vt:lpstr>Ai Tech Agency by Slidesgo</vt:lpstr>
      <vt:lpstr>Presentación de PowerPoint</vt:lpstr>
      <vt:lpstr>Bienvenida</vt:lpstr>
      <vt:lpstr>Presentación de PowerPoint</vt:lpstr>
      <vt:lpstr>Presentación de PowerPoint</vt:lpstr>
      <vt:lpstr>AGENDA</vt:lpstr>
      <vt:lpstr>CLASE VIRTUAL  DE LOS DÍAS VIERNES (FEEDBACK)</vt:lpstr>
      <vt:lpstr>DINÁMICA DE CLASES </vt:lpstr>
      <vt:lpstr>ACERCA DEL FACILITADOR</vt:lpstr>
      <vt:lpstr>INTRODUCCIÓN</vt:lpstr>
      <vt:lpstr>METODOLOGÍA CRISP DM</vt:lpstr>
      <vt:lpstr>ANALÍTICA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270</cp:revision>
  <dcterms:modified xsi:type="dcterms:W3CDTF">2026-08-08T19:48:39Z</dcterms:modified>
</cp:coreProperties>
</file>